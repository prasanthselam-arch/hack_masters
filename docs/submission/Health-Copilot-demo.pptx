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 we're team hack masters, and this is Health Copilot: an AI-powered personal health copilot for Indian families. It reads your medical paperwork twice, checks it with code, lets you confirm it, and then explains it in your own language.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Indian patients carry their health history on paper: handwritten prescriptions, lab printouts and discharge summaries, often mixing English with Hindi, Telugu, Tamil or Kannada. Nobody explains the abnormal values, and records don't move between hospitals. ABDM can carry them, but only as structured FHIR, linked to an ABHA.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dashboard brings every document together: results that need attention, today's medicines, and conditions. The High and Low flags are computed in code from the report's own reference range, never by the AI.</a:t>
            </a:r>
          </a:p>
          <a:p/>
          <a:p>
            <a:r>
              <a:t>Let's see it live. You sign in with your email or your mobile number, and a password. One account holds a whole family, and it only ever sees its own records.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let's upload a photo of a bilingual Telugu prescription. The pipeline deskews and enhances the page, classifies it, and extracts it with Gemini vision into a strict schema. Every value is checked in code, and then a different model re-reads the page, focusing on whatever looked suspicious. An upload can even be deleted before it's reviewed.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While that runs, here's the review screen for a handwritten prescription photo. The original page sits next to every extracted field, with its confidence, and whether both AI reads agree. This card shows what the verification read changed: it caught the full brand name, Uprise D3 60K, and removed codes that weren't on the page. Nothing reaches the record until a person confirms it.</a:t>
            </a:r>
          </a:p>
          <a:p/>
          <a:p>
            <a:r>
              <a:t>Our Telugu prescription is ready. A quick check, then one tap on Confirm and save, and it joins the family record.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Trends plot every result across the year, with the reference range shaded. HbA1c came down from 8.1 to 7.6 percent: better, but still above the range.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document gets a plain-language explanation, here in Hindi. The AI writes only the prose. Each number, flag and schedule is attached from the database, and a safety filter blocks dosing advice and diagnoses.</a:t>
            </a:r>
          </a:p>
          <a:p/>
          <a:p>
            <a:r>
              <a:t>Ask Copilot answers questions from your own records only, with citations. Here I'm asking in Telugu about my sugar and cholesterol, and which medicines I take. The answer comes back in Telugu, with the results and medicines it used, and it can read the answer aloud.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It's ready for ABDM. Link an ABHA with a one-time password, grant consent, and pull records from a hospital. Every confirmed document becomes an NRCeS-profile FHIR R4 bundle, readable here, with the raw JSON one click away.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it's built for phones: a bottom tab bar, the account menu in the corner, and it installs to the home screen like an app. Everything works in five languages.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Safety is built into the design, not added at the end. Code decides what is abnormal; the AI only explains. Nothing is saved without human confirmation, and the models never see names, phone numbers or ABHA IDs.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measured accuracy instead of claiming it. On ten test documents, including handwriting, phone photos and four Indian scripts, the pipeline with verification got all 477 checked fields right.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Under the hood: FastAPI on the back end, React 19 on the front end, and Gemini model chains with automatic fallback. And it all runs on free tiers: Render, a private GitHub repository as the datastore, Gmail through Apps Script, and GitHub Actions.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Who it helps: chronic patients tracking results across labs, caregivers managing a parent's medicines, and doctors who receive a structured, ABHA-linked history instead of a paper folder.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reads and explains. Code checks. You confirm. Your record, in your language, ready for ABDM.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pic>
        <p:nvPicPr>
          <p:cNvPr id="2" name="Picture 1" descr="banner_still.png"/>
          <p:cNvPicPr>
            <a:picLocks noChangeAspect="1"/>
          </p:cNvPicPr>
          <p:nvPr/>
        </p:nvPicPr>
        <p:blipFill>
          <a:blip r:embed="rId3"/>
          <a:stretch>
            <a:fillRect/>
          </a:stretch>
        </p:blipFill>
        <p:spPr>
          <a:xfrm>
            <a:off x="822960" y="1051560"/>
            <a:ext cx="10543032" cy="2965228"/>
          </a:xfrm>
          <a:prstGeom prst="rect">
            <a:avLst/>
          </a:prstGeom>
        </p:spPr>
      </p:pic>
      <p:sp>
        <p:nvSpPr>
          <p:cNvPr id="3" name="TextBox 2"/>
          <p:cNvSpPr txBox="1"/>
          <p:nvPr/>
        </p:nvSpPr>
        <p:spPr>
          <a:xfrm>
            <a:off x="822960" y="4434840"/>
            <a:ext cx="10543032" cy="457200"/>
          </a:xfrm>
          <a:prstGeom prst="rect">
            <a:avLst/>
          </a:prstGeom>
          <a:noFill/>
        </p:spPr>
        <p:txBody>
          <a:bodyPr wrap="square" anchor="t" lIns="0" rIns="0" tIns="0" bIns="0">
            <a:spAutoFit/>
          </a:bodyPr>
          <a:lstStyle/>
          <a:p>
            <a:pPr algn="ctr">
              <a:lnSpc>
                <a:spcPct val="115000"/>
              </a:lnSpc>
            </a:pPr>
            <a:r>
              <a:rPr sz="1800" b="0">
                <a:solidFill>
                  <a:srgbClr val="9FD9C8"/>
                </a:solidFill>
                <a:latin typeface="Segoe UI"/>
              </a:rPr>
              <a:t>Your family's medical paperwork, read twice, checked by code and confirmed by you, then explained in your own language.</a:t>
            </a:r>
          </a:p>
        </p:txBody>
      </p:sp>
      <p:sp>
        <p:nvSpPr>
          <p:cNvPr id="4" name="Rounded Rectangle 3"/>
          <p:cNvSpPr/>
          <p:nvPr/>
        </p:nvSpPr>
        <p:spPr>
          <a:xfrm>
            <a:off x="2514600" y="5257800"/>
            <a:ext cx="2478755"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Altrix Labs Hackathon</a:t>
            </a:r>
          </a:p>
        </p:txBody>
      </p:sp>
      <p:sp>
        <p:nvSpPr>
          <p:cNvPr id="5" name="Rounded Rectangle 4"/>
          <p:cNvSpPr/>
          <p:nvPr/>
        </p:nvSpPr>
        <p:spPr>
          <a:xfrm>
            <a:off x="5103083" y="5257800"/>
            <a:ext cx="3843406"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AI-Powered Personal Health Copilot</a:t>
            </a:r>
          </a:p>
        </p:txBody>
      </p:sp>
      <p:sp>
        <p:nvSpPr>
          <p:cNvPr id="6" name="Rounded Rectangle 5"/>
          <p:cNvSpPr/>
          <p:nvPr/>
        </p:nvSpPr>
        <p:spPr>
          <a:xfrm>
            <a:off x="9056217" y="5257800"/>
            <a:ext cx="2058863"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Team hack_masters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THE PROBLEM</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Health records in India still live </a:t>
            </a:r>
            <a:r>
              <a:rPr sz="3400" b="1">
                <a:solidFill>
                  <a:srgbClr val="7BDBC1"/>
                </a:solidFill>
                <a:latin typeface="Segoe UI"/>
              </a:rPr>
              <a:t>on paper</a:t>
            </a:r>
          </a:p>
        </p:txBody>
      </p:sp>
      <p:sp>
        <p:nvSpPr>
          <p:cNvPr id="5" name="Rounded Rectangle 4"/>
          <p:cNvSpPr/>
          <p:nvPr/>
        </p:nvSpPr>
        <p:spPr>
          <a:xfrm>
            <a:off x="640080" y="1783080"/>
            <a:ext cx="6309360" cy="1024128"/>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41247" y="198424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1</a:t>
            </a:r>
          </a:p>
        </p:txBody>
      </p:sp>
      <p:sp>
        <p:nvSpPr>
          <p:cNvPr id="7" name="TextBox 6"/>
          <p:cNvSpPr txBox="1"/>
          <p:nvPr/>
        </p:nvSpPr>
        <p:spPr>
          <a:xfrm>
            <a:off x="1508760" y="1965960"/>
            <a:ext cx="525780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Handwritten and mixed-language</a:t>
            </a:r>
          </a:p>
        </p:txBody>
      </p:sp>
      <p:sp>
        <p:nvSpPr>
          <p:cNvPr id="8" name="TextBox 7"/>
          <p:cNvSpPr txBox="1"/>
          <p:nvPr/>
        </p:nvSpPr>
        <p:spPr>
          <a:xfrm>
            <a:off x="1508760" y="2313432"/>
            <a:ext cx="5257800" cy="429768"/>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Prescriptions, lab printouts and discharge summaries, in English plus Hindi, Telugu, Tamil or Kannada.</a:t>
            </a:r>
          </a:p>
        </p:txBody>
      </p:sp>
      <p:sp>
        <p:nvSpPr>
          <p:cNvPr id="9" name="Rounded Rectangle 8"/>
          <p:cNvSpPr/>
          <p:nvPr/>
        </p:nvSpPr>
        <p:spPr>
          <a:xfrm>
            <a:off x="640080" y="2971800"/>
            <a:ext cx="6309360" cy="1024128"/>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841247" y="31729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2</a:t>
            </a:r>
          </a:p>
        </p:txBody>
      </p:sp>
      <p:sp>
        <p:nvSpPr>
          <p:cNvPr id="11" name="TextBox 10"/>
          <p:cNvSpPr txBox="1"/>
          <p:nvPr/>
        </p:nvSpPr>
        <p:spPr>
          <a:xfrm>
            <a:off x="1508760" y="3154680"/>
            <a:ext cx="525780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Nobody explains the results</a:t>
            </a:r>
          </a:p>
        </p:txBody>
      </p:sp>
      <p:sp>
        <p:nvSpPr>
          <p:cNvPr id="12" name="TextBox 11"/>
          <p:cNvSpPr txBox="1"/>
          <p:nvPr/>
        </p:nvSpPr>
        <p:spPr>
          <a:xfrm>
            <a:off x="1508760" y="3502152"/>
            <a:ext cx="5257800" cy="429768"/>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Abnormal values go unexplained; old prescriptions linger.</a:t>
            </a:r>
          </a:p>
        </p:txBody>
      </p:sp>
      <p:sp>
        <p:nvSpPr>
          <p:cNvPr id="13" name="Rounded Rectangle 12"/>
          <p:cNvSpPr/>
          <p:nvPr/>
        </p:nvSpPr>
        <p:spPr>
          <a:xfrm>
            <a:off x="640080" y="4160520"/>
            <a:ext cx="6309360" cy="1024128"/>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7" y="436168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3</a:t>
            </a:r>
          </a:p>
        </p:txBody>
      </p:sp>
      <p:sp>
        <p:nvSpPr>
          <p:cNvPr id="15" name="TextBox 14"/>
          <p:cNvSpPr txBox="1"/>
          <p:nvPr/>
        </p:nvSpPr>
        <p:spPr>
          <a:xfrm>
            <a:off x="1508760" y="4343400"/>
            <a:ext cx="525780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Records don't travel</a:t>
            </a:r>
          </a:p>
        </p:txBody>
      </p:sp>
      <p:sp>
        <p:nvSpPr>
          <p:cNvPr id="16" name="TextBox 15"/>
          <p:cNvSpPr txBox="1"/>
          <p:nvPr/>
        </p:nvSpPr>
        <p:spPr>
          <a:xfrm>
            <a:off x="1508760" y="4690872"/>
            <a:ext cx="5257800" cy="429768"/>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Each hospital keeps its own paper folder.</a:t>
            </a:r>
          </a:p>
        </p:txBody>
      </p:sp>
      <p:sp>
        <p:nvSpPr>
          <p:cNvPr id="17" name="Rounded Rectangle 16"/>
          <p:cNvSpPr/>
          <p:nvPr/>
        </p:nvSpPr>
        <p:spPr>
          <a:xfrm>
            <a:off x="640080" y="5349240"/>
            <a:ext cx="6309360" cy="1024128"/>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41247" y="555040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4</a:t>
            </a:r>
          </a:p>
        </p:txBody>
      </p:sp>
      <p:sp>
        <p:nvSpPr>
          <p:cNvPr id="19" name="TextBox 18"/>
          <p:cNvSpPr txBox="1"/>
          <p:nvPr/>
        </p:nvSpPr>
        <p:spPr>
          <a:xfrm>
            <a:off x="1508760" y="5532120"/>
            <a:ext cx="525780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ABDM needs structured data</a:t>
            </a:r>
          </a:p>
        </p:txBody>
      </p:sp>
      <p:sp>
        <p:nvSpPr>
          <p:cNvPr id="20" name="TextBox 19"/>
          <p:cNvSpPr txBox="1"/>
          <p:nvPr/>
        </p:nvSpPr>
        <p:spPr>
          <a:xfrm>
            <a:off x="1508760" y="5879592"/>
            <a:ext cx="5257800" cy="429768"/>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Records must be FHIR, linked to an ABHA, before they can move between providers.</a:t>
            </a:r>
          </a:p>
        </p:txBody>
      </p:sp>
      <p:pic>
        <p:nvPicPr>
          <p:cNvPr id="21" name="Picture 20" descr="rx_handwritten_photo.jpg"/>
          <p:cNvPicPr>
            <a:picLocks noChangeAspect="1"/>
          </p:cNvPicPr>
          <p:nvPr/>
        </p:nvPicPr>
        <p:blipFill>
          <a:blip r:embed="rId3"/>
          <a:stretch>
            <a:fillRect/>
          </a:stretch>
        </p:blipFill>
        <p:spPr>
          <a:xfrm rot="21240000">
            <a:off x="7315200" y="1828800"/>
            <a:ext cx="2103120" cy="2864390"/>
          </a:xfrm>
          <a:prstGeom prst="rect">
            <a:avLst/>
          </a:prstGeom>
          <a:ln w="50800">
            <a:solidFill>
              <a:srgbClr val="FFFFFF"/>
            </a:solidFill>
          </a:ln>
        </p:spPr>
      </p:pic>
      <p:pic>
        <p:nvPicPr>
          <p:cNvPr id="22" name="Picture 21" descr="lab_kft_kannada.png"/>
          <p:cNvPicPr>
            <a:picLocks noChangeAspect="1"/>
          </p:cNvPicPr>
          <p:nvPr/>
        </p:nvPicPr>
        <p:blipFill>
          <a:blip r:embed="rId4"/>
          <a:stretch>
            <a:fillRect/>
          </a:stretch>
        </p:blipFill>
        <p:spPr>
          <a:xfrm rot="300000">
            <a:off x="9509760" y="1737360"/>
            <a:ext cx="2103120" cy="2974897"/>
          </a:xfrm>
          <a:prstGeom prst="rect">
            <a:avLst/>
          </a:prstGeom>
          <a:ln w="50800">
            <a:solidFill>
              <a:srgbClr val="FFFFFF"/>
            </a:solidFill>
          </a:ln>
        </p:spPr>
      </p:pic>
      <p:pic>
        <p:nvPicPr>
          <p:cNvPr id="23" name="Picture 22" descr="rx_bilingual_telugu.png"/>
          <p:cNvPicPr>
            <a:picLocks noChangeAspect="1"/>
          </p:cNvPicPr>
          <p:nvPr/>
        </p:nvPicPr>
        <p:blipFill>
          <a:blip r:embed="rId5"/>
          <a:stretch>
            <a:fillRect/>
          </a:stretch>
        </p:blipFill>
        <p:spPr>
          <a:xfrm rot="21480000">
            <a:off x="8595360" y="3383280"/>
            <a:ext cx="1874519" cy="2651537"/>
          </a:xfrm>
          <a:prstGeom prst="rect">
            <a:avLst/>
          </a:prstGeom>
          <a:ln w="50800">
            <a:solidFill>
              <a:srgbClr val="FFFFFF"/>
            </a:solidFill>
          </a:ln>
        </p:spPr>
      </p:pic>
      <p:sp>
        <p:nvSpPr>
          <p:cNvPr id="24" name="TextBox 23"/>
          <p:cNvSpPr txBox="1"/>
          <p:nvPr/>
        </p:nvSpPr>
        <p:spPr>
          <a:xfrm>
            <a:off x="7315200" y="6446520"/>
            <a:ext cx="4389120" cy="274320"/>
          </a:xfrm>
          <a:prstGeom prst="rect">
            <a:avLst/>
          </a:prstGeom>
          <a:noFill/>
        </p:spPr>
        <p:txBody>
          <a:bodyPr wrap="square" anchor="t" lIns="0" rIns="0" tIns="0" bIns="0">
            <a:spAutoFit/>
          </a:bodyPr>
          <a:lstStyle/>
          <a:p>
            <a:pPr algn="ctr">
              <a:lnSpc>
                <a:spcPct val="115000"/>
              </a:lnSpc>
            </a:pPr>
            <a:r>
              <a:rPr sz="1000" b="0">
                <a:solidFill>
                  <a:srgbClr val="9FD9C8"/>
                </a:solidFill>
                <a:latin typeface="Segoe UI"/>
              </a:rPr>
              <a:t>Synthetic sample documents from the evaluation 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WHAT WE BUILT</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One verified record for the whole family</a:t>
            </a:r>
          </a:p>
        </p:txBody>
      </p:sp>
      <p:sp>
        <p:nvSpPr>
          <p:cNvPr id="5" name="TextBox 4"/>
          <p:cNvSpPr txBox="1"/>
          <p:nvPr/>
        </p:nvSpPr>
        <p:spPr>
          <a:xfrm>
            <a:off x="640080" y="1828800"/>
            <a:ext cx="4206240" cy="4114800"/>
          </a:xfrm>
          <a:prstGeom prst="rect">
            <a:avLst/>
          </a:prstGeom>
          <a:noFill/>
        </p:spPr>
        <p:txBody>
          <a:bodyPr wrap="square" anchor="t" lIns="0" rIns="0" tIns="0" bIns="0">
            <a:spAutoFit/>
          </a:bodyPr>
          <a:lstStyle/>
          <a:p>
            <a:pPr algn="l">
              <a:lnSpc>
                <a:spcPct val="120000"/>
              </a:lnSpc>
              <a:spcAft>
                <a:spcPts val="1080"/>
              </a:spcAft>
            </a:pPr>
            <a:r>
              <a:rPr sz="1500" b="1">
                <a:solidFill>
                  <a:srgbClr val="45C2A5"/>
                </a:solidFill>
                <a:latin typeface="Segoe UI"/>
              </a:rPr>
              <a:t>•  </a:t>
            </a:r>
            <a:r>
              <a:rPr sz="1500" b="1">
                <a:solidFill>
                  <a:srgbClr val="FFFFFF"/>
                </a:solidFill>
                <a:latin typeface="Segoe UI"/>
              </a:rPr>
              <a:t>Upload: </a:t>
            </a:r>
            <a:r>
              <a:rPr sz="1500" b="0">
                <a:solidFill>
                  <a:srgbClr val="9FD9C8"/>
                </a:solidFill>
                <a:latin typeface="Segoe UI"/>
              </a:rPr>
              <a:t>photo, scan or PDF, any of 5 languages</a:t>
            </a:r>
          </a:p>
          <a:p>
            <a:pPr algn="l">
              <a:lnSpc>
                <a:spcPct val="120000"/>
              </a:lnSpc>
              <a:spcAft>
                <a:spcPts val="1080"/>
              </a:spcAft>
            </a:pPr>
            <a:r>
              <a:rPr sz="1500" b="1">
                <a:solidFill>
                  <a:srgbClr val="45C2A5"/>
                </a:solidFill>
                <a:latin typeface="Segoe UI"/>
              </a:rPr>
              <a:t>•  </a:t>
            </a:r>
            <a:r>
              <a:rPr sz="1500" b="1">
                <a:solidFill>
                  <a:srgbClr val="FFFFFF"/>
                </a:solidFill>
                <a:latin typeface="Segoe UI"/>
              </a:rPr>
              <a:t>Read twice: </a:t>
            </a:r>
            <a:r>
              <a:rPr sz="1500" b="0">
                <a:solidFill>
                  <a:srgbClr val="9FD9C8"/>
                </a:solidFill>
                <a:latin typeface="Segoe UI"/>
              </a:rPr>
              <a:t>Gemini extracts, a second model verifies</a:t>
            </a:r>
          </a:p>
          <a:p>
            <a:pPr algn="l">
              <a:lnSpc>
                <a:spcPct val="120000"/>
              </a:lnSpc>
              <a:spcAft>
                <a:spcPts val="1080"/>
              </a:spcAft>
            </a:pPr>
            <a:r>
              <a:rPr sz="1500" b="1">
                <a:solidFill>
                  <a:srgbClr val="45C2A5"/>
                </a:solidFill>
                <a:latin typeface="Segoe UI"/>
              </a:rPr>
              <a:t>•  </a:t>
            </a:r>
            <a:r>
              <a:rPr sz="1500" b="1">
                <a:solidFill>
                  <a:srgbClr val="FFFFFF"/>
                </a:solidFill>
                <a:latin typeface="Segoe UI"/>
              </a:rPr>
              <a:t>Checked by code: </a:t>
            </a:r>
            <a:r>
              <a:rPr sz="1500" b="0">
                <a:solidFill>
                  <a:srgbClr val="9FD9C8"/>
                </a:solidFill>
                <a:latin typeface="Segoe UI"/>
              </a:rPr>
              <a:t>units, ranges, flags, drugs, dates</a:t>
            </a:r>
          </a:p>
          <a:p>
            <a:pPr algn="l">
              <a:lnSpc>
                <a:spcPct val="120000"/>
              </a:lnSpc>
              <a:spcAft>
                <a:spcPts val="1080"/>
              </a:spcAft>
            </a:pPr>
            <a:r>
              <a:rPr sz="1500" b="1">
                <a:solidFill>
                  <a:srgbClr val="45C2A5"/>
                </a:solidFill>
                <a:latin typeface="Segoe UI"/>
              </a:rPr>
              <a:t>•  </a:t>
            </a:r>
            <a:r>
              <a:rPr sz="1500" b="1">
                <a:solidFill>
                  <a:srgbClr val="FFFFFF"/>
                </a:solidFill>
                <a:latin typeface="Segoe UI"/>
              </a:rPr>
              <a:t>Confirmed by you: </a:t>
            </a:r>
            <a:r>
              <a:rPr sz="1500" b="0">
                <a:solidFill>
                  <a:srgbClr val="9FD9C8"/>
                </a:solidFill>
                <a:latin typeface="Segoe UI"/>
              </a:rPr>
              <a:t>side-by-side review before saving</a:t>
            </a:r>
          </a:p>
          <a:p>
            <a:pPr algn="l">
              <a:lnSpc>
                <a:spcPct val="120000"/>
              </a:lnSpc>
              <a:spcAft>
                <a:spcPts val="1080"/>
              </a:spcAft>
            </a:pPr>
            <a:r>
              <a:rPr sz="1500" b="1">
                <a:solidFill>
                  <a:srgbClr val="45C2A5"/>
                </a:solidFill>
                <a:latin typeface="Segoe UI"/>
              </a:rPr>
              <a:t>•  </a:t>
            </a:r>
            <a:r>
              <a:rPr sz="1500" b="1">
                <a:solidFill>
                  <a:srgbClr val="FFFFFF"/>
                </a:solidFill>
                <a:latin typeface="Segoe UI"/>
              </a:rPr>
              <a:t>Explained: </a:t>
            </a:r>
            <a:r>
              <a:rPr sz="1500" b="0">
                <a:solidFill>
                  <a:srgbClr val="9FD9C8"/>
                </a:solidFill>
                <a:latin typeface="Segoe UI"/>
              </a:rPr>
              <a:t>summaries and cited chat in your language</a:t>
            </a:r>
          </a:p>
          <a:p>
            <a:pPr algn="l">
              <a:lnSpc>
                <a:spcPct val="120000"/>
              </a:lnSpc>
              <a:spcAft>
                <a:spcPts val="1080"/>
              </a:spcAft>
            </a:pPr>
            <a:r>
              <a:rPr sz="1500" b="1">
                <a:solidFill>
                  <a:srgbClr val="45C2A5"/>
                </a:solidFill>
                <a:latin typeface="Segoe UI"/>
              </a:rPr>
              <a:t>•  </a:t>
            </a:r>
            <a:r>
              <a:rPr sz="1500" b="1">
                <a:solidFill>
                  <a:srgbClr val="FFFFFF"/>
                </a:solidFill>
                <a:latin typeface="Segoe UI"/>
              </a:rPr>
              <a:t>Shared: </a:t>
            </a:r>
            <a:r>
              <a:rPr sz="1500" b="0">
                <a:solidFill>
                  <a:srgbClr val="9FD9C8"/>
                </a:solidFill>
                <a:latin typeface="Segoe UI"/>
              </a:rPr>
              <a:t>FHIR R4 bundles and ABHA</a:t>
            </a:r>
          </a:p>
        </p:txBody>
      </p:sp>
      <p:pic>
        <p:nvPicPr>
          <p:cNvPr id="6" name="Picture 5" descr="dashboard.png"/>
          <p:cNvPicPr>
            <a:picLocks noChangeAspect="1"/>
          </p:cNvPicPr>
          <p:nvPr/>
        </p:nvPicPr>
        <p:blipFill>
          <a:blip r:embed="rId3"/>
          <a:srcRect b="10720"/>
          <a:stretch>
            <a:fillRect/>
          </a:stretch>
        </p:blipFill>
        <p:spPr>
          <a:xfrm>
            <a:off x="5120640" y="1783080"/>
            <a:ext cx="6492240" cy="4025188"/>
          </a:xfrm>
          <a:prstGeom prst="rect">
            <a:avLst/>
          </a:prstGeom>
          <a:ln w="19050">
            <a:solidFill>
              <a:srgbClr val="24564C"/>
            </a:solidFill>
          </a:ln>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HOW IT WORKS</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AI reads. Code decides. </a:t>
            </a:r>
            <a:r>
              <a:rPr sz="3400" b="1">
                <a:solidFill>
                  <a:srgbClr val="7BDBC1"/>
                </a:solidFill>
                <a:latin typeface="Segoe UI"/>
              </a:rPr>
              <a:t>You confirm.</a:t>
            </a:r>
          </a:p>
        </p:txBody>
      </p:sp>
      <p:sp>
        <p:nvSpPr>
          <p:cNvPr id="5" name="Rounded Rectangle 4"/>
          <p:cNvSpPr/>
          <p:nvPr/>
        </p:nvSpPr>
        <p:spPr>
          <a:xfrm>
            <a:off x="640080" y="2103120"/>
            <a:ext cx="1572768" cy="1234440"/>
          </a:xfrm>
          <a:prstGeom prst="roundRect">
            <a:avLst>
              <a:gd name="adj" fmla="val 18000"/>
            </a:avLst>
          </a:prstGeom>
          <a:solidFill>
            <a:srgbClr val="102B26"/>
          </a:solidFill>
          <a:ln w="25400">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19" y="2331720"/>
            <a:ext cx="1389888" cy="365760"/>
          </a:xfrm>
          <a:prstGeom prst="rect">
            <a:avLst/>
          </a:prstGeom>
          <a:noFill/>
        </p:spPr>
        <p:txBody>
          <a:bodyPr wrap="square" anchor="t" lIns="0" rIns="0" tIns="0" bIns="0">
            <a:spAutoFit/>
          </a:bodyPr>
          <a:lstStyle/>
          <a:p>
            <a:pPr algn="ctr">
              <a:lnSpc>
                <a:spcPct val="115000"/>
              </a:lnSpc>
            </a:pPr>
            <a:r>
              <a:rPr sz="1600" b="1">
                <a:solidFill>
                  <a:srgbClr val="FFFFFF"/>
                </a:solidFill>
                <a:latin typeface="Segoe UI"/>
              </a:rPr>
              <a:t>Photo / PDF</a:t>
            </a:r>
          </a:p>
        </p:txBody>
      </p:sp>
      <p:sp>
        <p:nvSpPr>
          <p:cNvPr id="7" name="TextBox 6"/>
          <p:cNvSpPr txBox="1"/>
          <p:nvPr/>
        </p:nvSpPr>
        <p:spPr>
          <a:xfrm>
            <a:off x="731519" y="2743200"/>
            <a:ext cx="1389888" cy="54864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camera, scan, multi-page</a:t>
            </a:r>
          </a:p>
        </p:txBody>
      </p:sp>
      <p:sp>
        <p:nvSpPr>
          <p:cNvPr id="8" name="Right Arrow 7"/>
          <p:cNvSpPr/>
          <p:nvPr/>
        </p:nvSpPr>
        <p:spPr>
          <a:xfrm>
            <a:off x="2258568" y="2606039"/>
            <a:ext cx="237744"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542032" y="2103120"/>
            <a:ext cx="1572768" cy="1234440"/>
          </a:xfrm>
          <a:prstGeom prst="roundRect">
            <a:avLst>
              <a:gd name="adj" fmla="val 18000"/>
            </a:avLst>
          </a:prstGeom>
          <a:solidFill>
            <a:srgbClr val="102B26"/>
          </a:solidFill>
          <a:ln w="25400">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633472" y="2331720"/>
            <a:ext cx="1389888" cy="365760"/>
          </a:xfrm>
          <a:prstGeom prst="rect">
            <a:avLst/>
          </a:prstGeom>
          <a:noFill/>
        </p:spPr>
        <p:txBody>
          <a:bodyPr wrap="square" anchor="t" lIns="0" rIns="0" tIns="0" bIns="0">
            <a:spAutoFit/>
          </a:bodyPr>
          <a:lstStyle/>
          <a:p>
            <a:pPr algn="ctr">
              <a:lnSpc>
                <a:spcPct val="115000"/>
              </a:lnSpc>
            </a:pPr>
            <a:r>
              <a:rPr sz="1600" b="1">
                <a:solidFill>
                  <a:srgbClr val="FFFFFF"/>
                </a:solidFill>
                <a:latin typeface="Segoe UI"/>
              </a:rPr>
              <a:t>Preprocess</a:t>
            </a:r>
          </a:p>
        </p:txBody>
      </p:sp>
      <p:sp>
        <p:nvSpPr>
          <p:cNvPr id="11" name="TextBox 10"/>
          <p:cNvSpPr txBox="1"/>
          <p:nvPr/>
        </p:nvSpPr>
        <p:spPr>
          <a:xfrm>
            <a:off x="2633472" y="2743200"/>
            <a:ext cx="1389888" cy="54864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deskew, enhance, text layer</a:t>
            </a:r>
          </a:p>
        </p:txBody>
      </p:sp>
      <p:sp>
        <p:nvSpPr>
          <p:cNvPr id="12" name="Right Arrow 11"/>
          <p:cNvSpPr/>
          <p:nvPr/>
        </p:nvSpPr>
        <p:spPr>
          <a:xfrm>
            <a:off x="4160520" y="2606039"/>
            <a:ext cx="237744"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443984" y="2103120"/>
            <a:ext cx="1572768" cy="1234440"/>
          </a:xfrm>
          <a:prstGeom prst="roundRect">
            <a:avLst>
              <a:gd name="adj" fmla="val 18000"/>
            </a:avLst>
          </a:prstGeom>
          <a:solidFill>
            <a:srgbClr val="102B26"/>
          </a:solidFill>
          <a:ln w="254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535424" y="2331720"/>
            <a:ext cx="1389888" cy="365760"/>
          </a:xfrm>
          <a:prstGeom prst="rect">
            <a:avLst/>
          </a:prstGeom>
          <a:noFill/>
        </p:spPr>
        <p:txBody>
          <a:bodyPr wrap="square" anchor="t" lIns="0" rIns="0" tIns="0" bIns="0">
            <a:spAutoFit/>
          </a:bodyPr>
          <a:lstStyle/>
          <a:p>
            <a:pPr algn="ctr">
              <a:lnSpc>
                <a:spcPct val="115000"/>
              </a:lnSpc>
            </a:pPr>
            <a:r>
              <a:rPr sz="1600" b="1">
                <a:solidFill>
                  <a:srgbClr val="FFFFFF"/>
                </a:solidFill>
                <a:latin typeface="Segoe UI"/>
              </a:rPr>
              <a:t>Extract</a:t>
            </a:r>
          </a:p>
        </p:txBody>
      </p:sp>
      <p:sp>
        <p:nvSpPr>
          <p:cNvPr id="15" name="TextBox 14"/>
          <p:cNvSpPr txBox="1"/>
          <p:nvPr/>
        </p:nvSpPr>
        <p:spPr>
          <a:xfrm>
            <a:off x="4535424" y="2743200"/>
            <a:ext cx="1389888" cy="54864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Gemini vision, strict schema</a:t>
            </a:r>
          </a:p>
        </p:txBody>
      </p:sp>
      <p:sp>
        <p:nvSpPr>
          <p:cNvPr id="16" name="Right Arrow 15"/>
          <p:cNvSpPr/>
          <p:nvPr/>
        </p:nvSpPr>
        <p:spPr>
          <a:xfrm>
            <a:off x="6062472" y="2606039"/>
            <a:ext cx="237744"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345936" y="2103120"/>
            <a:ext cx="1572768" cy="1234440"/>
          </a:xfrm>
          <a:prstGeom prst="roundRect">
            <a:avLst>
              <a:gd name="adj" fmla="val 18000"/>
            </a:avLst>
          </a:prstGeom>
          <a:solidFill>
            <a:srgbClr val="102B26"/>
          </a:solidFill>
          <a:ln w="25400">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37376" y="2331720"/>
            <a:ext cx="1389888" cy="365760"/>
          </a:xfrm>
          <a:prstGeom prst="rect">
            <a:avLst/>
          </a:prstGeom>
          <a:noFill/>
        </p:spPr>
        <p:txBody>
          <a:bodyPr wrap="square" anchor="t" lIns="0" rIns="0" tIns="0" bIns="0">
            <a:spAutoFit/>
          </a:bodyPr>
          <a:lstStyle/>
          <a:p>
            <a:pPr algn="ctr">
              <a:lnSpc>
                <a:spcPct val="115000"/>
              </a:lnSpc>
            </a:pPr>
            <a:r>
              <a:rPr sz="1600" b="1">
                <a:solidFill>
                  <a:srgbClr val="FFFFFF"/>
                </a:solidFill>
                <a:latin typeface="Segoe UI"/>
              </a:rPr>
              <a:t>Validate</a:t>
            </a:r>
          </a:p>
        </p:txBody>
      </p:sp>
      <p:sp>
        <p:nvSpPr>
          <p:cNvPr id="19" name="TextBox 18"/>
          <p:cNvSpPr txBox="1"/>
          <p:nvPr/>
        </p:nvSpPr>
        <p:spPr>
          <a:xfrm>
            <a:off x="6437376" y="2743200"/>
            <a:ext cx="1389888" cy="54864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units, ranges, drugs, dates</a:t>
            </a:r>
          </a:p>
        </p:txBody>
      </p:sp>
      <p:sp>
        <p:nvSpPr>
          <p:cNvPr id="20" name="Right Arrow 19"/>
          <p:cNvSpPr/>
          <p:nvPr/>
        </p:nvSpPr>
        <p:spPr>
          <a:xfrm>
            <a:off x="7964424" y="2606039"/>
            <a:ext cx="237744"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247888" y="2103120"/>
            <a:ext cx="1572768" cy="1234440"/>
          </a:xfrm>
          <a:prstGeom prst="roundRect">
            <a:avLst>
              <a:gd name="adj" fmla="val 18000"/>
            </a:avLst>
          </a:prstGeom>
          <a:solidFill>
            <a:srgbClr val="102B26"/>
          </a:solidFill>
          <a:ln w="254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339327" y="2331720"/>
            <a:ext cx="1389888" cy="365760"/>
          </a:xfrm>
          <a:prstGeom prst="rect">
            <a:avLst/>
          </a:prstGeom>
          <a:noFill/>
        </p:spPr>
        <p:txBody>
          <a:bodyPr wrap="square" anchor="t" lIns="0" rIns="0" tIns="0" bIns="0">
            <a:spAutoFit/>
          </a:bodyPr>
          <a:lstStyle/>
          <a:p>
            <a:pPr algn="ctr">
              <a:lnSpc>
                <a:spcPct val="115000"/>
              </a:lnSpc>
            </a:pPr>
            <a:r>
              <a:rPr sz="1600" b="1">
                <a:solidFill>
                  <a:srgbClr val="FFFFFF"/>
                </a:solidFill>
                <a:latin typeface="Segoe UI"/>
              </a:rPr>
              <a:t>Verify</a:t>
            </a:r>
          </a:p>
        </p:txBody>
      </p:sp>
      <p:sp>
        <p:nvSpPr>
          <p:cNvPr id="23" name="TextBox 22"/>
          <p:cNvSpPr txBox="1"/>
          <p:nvPr/>
        </p:nvSpPr>
        <p:spPr>
          <a:xfrm>
            <a:off x="8339327" y="2743200"/>
            <a:ext cx="1389888" cy="54864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a second model re-reads</a:t>
            </a:r>
          </a:p>
        </p:txBody>
      </p:sp>
      <p:sp>
        <p:nvSpPr>
          <p:cNvPr id="24" name="Right Arrow 23"/>
          <p:cNvSpPr/>
          <p:nvPr/>
        </p:nvSpPr>
        <p:spPr>
          <a:xfrm>
            <a:off x="9866376" y="2606039"/>
            <a:ext cx="237744" cy="228600"/>
          </a:xfrm>
          <a:prstGeom prst="rightArrow">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10149840" y="2103120"/>
            <a:ext cx="1572768" cy="1234440"/>
          </a:xfrm>
          <a:prstGeom prst="roundRect">
            <a:avLst>
              <a:gd name="adj" fmla="val 18000"/>
            </a:avLst>
          </a:prstGeom>
          <a:solidFill>
            <a:srgbClr val="102B26"/>
          </a:solidFill>
          <a:ln w="25400">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0241280" y="2331720"/>
            <a:ext cx="1389888" cy="365760"/>
          </a:xfrm>
          <a:prstGeom prst="rect">
            <a:avLst/>
          </a:prstGeom>
          <a:noFill/>
        </p:spPr>
        <p:txBody>
          <a:bodyPr wrap="square" anchor="t" lIns="0" rIns="0" tIns="0" bIns="0">
            <a:spAutoFit/>
          </a:bodyPr>
          <a:lstStyle/>
          <a:p>
            <a:pPr algn="ctr">
              <a:lnSpc>
                <a:spcPct val="115000"/>
              </a:lnSpc>
            </a:pPr>
            <a:r>
              <a:rPr sz="1600" b="1">
                <a:solidFill>
                  <a:srgbClr val="FFFFFF"/>
                </a:solidFill>
                <a:latin typeface="Segoe UI"/>
              </a:rPr>
              <a:t>You confirm</a:t>
            </a:r>
          </a:p>
        </p:txBody>
      </p:sp>
      <p:sp>
        <p:nvSpPr>
          <p:cNvPr id="27" name="TextBox 26"/>
          <p:cNvSpPr txBox="1"/>
          <p:nvPr/>
        </p:nvSpPr>
        <p:spPr>
          <a:xfrm>
            <a:off x="10241280" y="2743200"/>
            <a:ext cx="1389888" cy="548640"/>
          </a:xfrm>
          <a:prstGeom prst="rect">
            <a:avLst/>
          </a:prstGeom>
          <a:noFill/>
        </p:spPr>
        <p:txBody>
          <a:bodyPr wrap="square" anchor="t" lIns="0" rIns="0" tIns="0" bIns="0">
            <a:spAutoFit/>
          </a:bodyPr>
          <a:lstStyle/>
          <a:p>
            <a:pPr algn="ctr">
              <a:lnSpc>
                <a:spcPct val="115000"/>
              </a:lnSpc>
            </a:pPr>
            <a:r>
              <a:rPr sz="1100" b="0">
                <a:solidFill>
                  <a:srgbClr val="9FD9C8"/>
                </a:solidFill>
                <a:latin typeface="Segoe UI"/>
              </a:rPr>
              <a:t>side-by-side review</a:t>
            </a:r>
          </a:p>
        </p:txBody>
      </p:sp>
      <p:sp>
        <p:nvSpPr>
          <p:cNvPr id="28" name="Rounded Rectangle 27"/>
          <p:cNvSpPr/>
          <p:nvPr/>
        </p:nvSpPr>
        <p:spPr>
          <a:xfrm>
            <a:off x="640080" y="3566160"/>
            <a:ext cx="994135" cy="329184"/>
          </a:xfrm>
          <a:prstGeom prst="roundRect">
            <a:avLst>
              <a:gd name="adj" fmla="val 50000"/>
            </a:avLst>
          </a:prstGeom>
          <a:solidFill>
            <a:srgbClr val="102B26"/>
          </a:solidFill>
          <a:ln w="15875">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AI reads</a:t>
            </a:r>
          </a:p>
        </p:txBody>
      </p:sp>
      <p:sp>
        <p:nvSpPr>
          <p:cNvPr id="29" name="Rounded Rectangle 28"/>
          <p:cNvSpPr/>
          <p:nvPr/>
        </p:nvSpPr>
        <p:spPr>
          <a:xfrm>
            <a:off x="1743943" y="3566160"/>
            <a:ext cx="1354043" cy="329184"/>
          </a:xfrm>
          <a:prstGeom prst="roundRect">
            <a:avLst>
              <a:gd name="adj" fmla="val 50000"/>
            </a:avLst>
          </a:prstGeom>
          <a:solidFill>
            <a:srgbClr val="102B26"/>
          </a:solidFill>
          <a:ln w="15875">
            <a:solidFill>
              <a:srgbClr val="F59E0B"/>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Code decides</a:t>
            </a:r>
          </a:p>
        </p:txBody>
      </p:sp>
      <p:sp>
        <p:nvSpPr>
          <p:cNvPr id="30" name="Rounded Rectangle 29"/>
          <p:cNvSpPr/>
          <p:nvPr/>
        </p:nvSpPr>
        <p:spPr>
          <a:xfrm>
            <a:off x="3207715" y="3566160"/>
            <a:ext cx="1803928"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A person confirms</a:t>
            </a:r>
          </a:p>
        </p:txBody>
      </p:sp>
      <p:sp>
        <p:nvSpPr>
          <p:cNvPr id="31" name="Rounded Rectangle 30"/>
          <p:cNvSpPr/>
          <p:nvPr/>
        </p:nvSpPr>
        <p:spPr>
          <a:xfrm>
            <a:off x="640080" y="4251960"/>
            <a:ext cx="3520440" cy="132588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8680" y="4434840"/>
            <a:ext cx="310896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Unified record</a:t>
            </a:r>
          </a:p>
        </p:txBody>
      </p:sp>
      <p:sp>
        <p:nvSpPr>
          <p:cNvPr id="33" name="TextBox 32"/>
          <p:cNvSpPr txBox="1"/>
          <p:nvPr/>
        </p:nvSpPr>
        <p:spPr>
          <a:xfrm>
            <a:off x="868680" y="4782312"/>
            <a:ext cx="3108960" cy="731519"/>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Timeline, trends with reference ranges, active and past medicines, conditions.</a:t>
            </a:r>
          </a:p>
        </p:txBody>
      </p:sp>
      <p:sp>
        <p:nvSpPr>
          <p:cNvPr id="34" name="Rounded Rectangle 33"/>
          <p:cNvSpPr/>
          <p:nvPr/>
        </p:nvSpPr>
        <p:spPr>
          <a:xfrm>
            <a:off x="4343400" y="4251960"/>
            <a:ext cx="3520440" cy="132588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572000" y="4434840"/>
            <a:ext cx="310896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Explanations and chat</a:t>
            </a:r>
          </a:p>
        </p:txBody>
      </p:sp>
      <p:sp>
        <p:nvSpPr>
          <p:cNvPr id="36" name="TextBox 35"/>
          <p:cNvSpPr txBox="1"/>
          <p:nvPr/>
        </p:nvSpPr>
        <p:spPr>
          <a:xfrm>
            <a:off x="4572000" y="4782312"/>
            <a:ext cx="3108960" cy="731519"/>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Grounded in the record, cited, safety-checked, in 5 languages.</a:t>
            </a:r>
          </a:p>
        </p:txBody>
      </p:sp>
      <p:sp>
        <p:nvSpPr>
          <p:cNvPr id="37" name="Rounded Rectangle 36"/>
          <p:cNvSpPr/>
          <p:nvPr/>
        </p:nvSpPr>
        <p:spPr>
          <a:xfrm>
            <a:off x="8046719" y="4251960"/>
            <a:ext cx="3520440" cy="132588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8275319" y="4434840"/>
            <a:ext cx="3108960"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FHIR R4 · ABHA</a:t>
            </a:r>
          </a:p>
        </p:txBody>
      </p:sp>
      <p:sp>
        <p:nvSpPr>
          <p:cNvPr id="39" name="TextBox 38"/>
          <p:cNvSpPr txBox="1"/>
          <p:nvPr/>
        </p:nvSpPr>
        <p:spPr>
          <a:xfrm>
            <a:off x="8275319" y="4782312"/>
            <a:ext cx="3108960" cy="731519"/>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NRCeS-profile bundles, mock ABHA link, consent and hospital import.</a:t>
            </a:r>
          </a:p>
        </p:txBody>
      </p:sp>
      <p:sp>
        <p:nvSpPr>
          <p:cNvPr id="40" name="TextBox 39"/>
          <p:cNvSpPr txBox="1"/>
          <p:nvPr/>
        </p:nvSpPr>
        <p:spPr>
          <a:xfrm>
            <a:off x="640080" y="5852160"/>
            <a:ext cx="10881360" cy="5486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Flags, unit conversions, LOINC and ICD-10 codes and medicine schedules come from a curated knowledge base (60 lab tests, 213 Indian drug brands, dosage shorthand like 1-0-1 AC), never from the model.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HUMAN IN THE LOOP</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Nothing is saved until a person confirms it</a:t>
            </a:r>
          </a:p>
        </p:txBody>
      </p:sp>
      <p:pic>
        <p:nvPicPr>
          <p:cNvPr id="5" name="Picture 4" descr="review.png"/>
          <p:cNvPicPr>
            <a:picLocks noChangeAspect="1"/>
          </p:cNvPicPr>
          <p:nvPr/>
        </p:nvPicPr>
        <p:blipFill>
          <a:blip r:embed="rId3"/>
          <a:srcRect b="34720"/>
          <a:stretch>
            <a:fillRect/>
          </a:stretch>
        </p:blipFill>
        <p:spPr>
          <a:xfrm>
            <a:off x="640080" y="1783080"/>
            <a:ext cx="6675120" cy="4539081"/>
          </a:xfrm>
          <a:prstGeom prst="rect">
            <a:avLst/>
          </a:prstGeom>
          <a:ln w="19050">
            <a:solidFill>
              <a:srgbClr val="24564C"/>
            </a:solidFill>
          </a:ln>
        </p:spPr>
      </p:pic>
      <p:sp>
        <p:nvSpPr>
          <p:cNvPr id="6" name="TextBox 5"/>
          <p:cNvSpPr txBox="1"/>
          <p:nvPr/>
        </p:nvSpPr>
        <p:spPr>
          <a:xfrm>
            <a:off x="7680960" y="1828800"/>
            <a:ext cx="393192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1">
                <a:solidFill>
                  <a:srgbClr val="FFFFFF"/>
                </a:solidFill>
                <a:latin typeface="Segoe UI"/>
              </a:rPr>
              <a:t>Side by side: </a:t>
            </a:r>
            <a:r>
              <a:rPr sz="1400" b="0">
                <a:solidFill>
                  <a:srgbClr val="9FD9C8"/>
                </a:solidFill>
                <a:latin typeface="Segoe UI"/>
              </a:rPr>
              <a:t>the deskewed page next to every editable field</a:t>
            </a:r>
          </a:p>
          <a:p>
            <a:pPr algn="l">
              <a:lnSpc>
                <a:spcPct val="120000"/>
              </a:lnSpc>
              <a:spcAft>
                <a:spcPts val="1008"/>
              </a:spcAft>
            </a:pPr>
            <a:r>
              <a:rPr sz="1400" b="1">
                <a:solidFill>
                  <a:srgbClr val="45C2A5"/>
                </a:solidFill>
                <a:latin typeface="Segoe UI"/>
              </a:rPr>
              <a:t>•  </a:t>
            </a:r>
            <a:r>
              <a:rPr sz="1400" b="1">
                <a:solidFill>
                  <a:srgbClr val="FFFFFF"/>
                </a:solidFill>
                <a:latin typeface="Segoe UI"/>
              </a:rPr>
              <a:t>Confidence: </a:t>
            </a:r>
            <a:r>
              <a:rPr sz="1400" b="0">
                <a:solidFill>
                  <a:srgbClr val="9FD9C8"/>
                </a:solidFill>
                <a:latin typeface="Segoe UI"/>
              </a:rPr>
              <a:t>per item, plus whether both AI reads agree</a:t>
            </a:r>
          </a:p>
          <a:p>
            <a:pPr algn="l">
              <a:lnSpc>
                <a:spcPct val="120000"/>
              </a:lnSpc>
              <a:spcAft>
                <a:spcPts val="1008"/>
              </a:spcAft>
            </a:pPr>
            <a:r>
              <a:rPr sz="1400" b="1">
                <a:solidFill>
                  <a:srgbClr val="45C2A5"/>
                </a:solidFill>
                <a:latin typeface="Segoe UI"/>
              </a:rPr>
              <a:t>•  </a:t>
            </a:r>
            <a:r>
              <a:rPr sz="1400" b="1">
                <a:solidFill>
                  <a:srgbClr val="FFFFFF"/>
                </a:solidFill>
                <a:latin typeface="Segoe UI"/>
              </a:rPr>
              <a:t>Verifier changes: </a:t>
            </a:r>
            <a:r>
              <a:rPr sz="1400" b="0">
                <a:solidFill>
                  <a:srgbClr val="9FD9C8"/>
                </a:solidFill>
                <a:latin typeface="Segoe UI"/>
              </a:rPr>
              <a:t>e.g. the full brand name Uprise D3 60K, and ICD-10 codes removed because they weren't on the page</a:t>
            </a:r>
          </a:p>
          <a:p>
            <a:pPr algn="l">
              <a:lnSpc>
                <a:spcPct val="120000"/>
              </a:lnSpc>
              <a:spcAft>
                <a:spcPts val="1008"/>
              </a:spcAft>
            </a:pPr>
            <a:r>
              <a:rPr sz="1400" b="1">
                <a:solidFill>
                  <a:srgbClr val="45C2A5"/>
                </a:solidFill>
                <a:latin typeface="Segoe UI"/>
              </a:rPr>
              <a:t>•  </a:t>
            </a:r>
            <a:r>
              <a:rPr sz="1400" b="1">
                <a:solidFill>
                  <a:srgbClr val="FFFFFF"/>
                </a:solidFill>
                <a:latin typeface="Segoe UI"/>
              </a:rPr>
              <a:t>Schedules: </a:t>
            </a:r>
            <a:r>
              <a:rPr sz="1400" b="0">
                <a:solidFill>
                  <a:srgbClr val="9FD9C8"/>
                </a:solidFill>
                <a:latin typeface="Segoe UI"/>
              </a:rPr>
              <a:t>1-0-0 becomes morning, afternoon and night pills</a:t>
            </a:r>
          </a:p>
          <a:p>
            <a:pPr algn="l">
              <a:lnSpc>
                <a:spcPct val="120000"/>
              </a:lnSpc>
              <a:spcAft>
                <a:spcPts val="1008"/>
              </a:spcAft>
            </a:pPr>
            <a:r>
              <a:rPr sz="1400" b="1">
                <a:solidFill>
                  <a:srgbClr val="45C2A5"/>
                </a:solidFill>
                <a:latin typeface="Segoe UI"/>
              </a:rPr>
              <a:t>•  </a:t>
            </a:r>
            <a:r>
              <a:rPr sz="1400" b="1">
                <a:solidFill>
                  <a:srgbClr val="FFFFFF"/>
                </a:solidFill>
                <a:latin typeface="Segoe UI"/>
              </a:rPr>
              <a:t>Delete any time: </a:t>
            </a:r>
            <a:r>
              <a:rPr sz="1400" b="0">
                <a:solidFill>
                  <a:srgbClr val="9FD9C8"/>
                </a:solidFill>
                <a:latin typeface="Segoe UI"/>
              </a:rPr>
              <a:t>even while a document is still being read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UNIFIED PROFILE</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Every document builds one record</a:t>
            </a:r>
          </a:p>
        </p:txBody>
      </p:sp>
      <p:pic>
        <p:nvPicPr>
          <p:cNvPr id="5" name="Picture 4" descr="trends.png"/>
          <p:cNvPicPr>
            <a:picLocks noChangeAspect="1"/>
          </p:cNvPicPr>
          <p:nvPr/>
        </p:nvPicPr>
        <p:blipFill>
          <a:blip r:embed="rId3"/>
          <a:srcRect/>
          <a:stretch>
            <a:fillRect/>
          </a:stretch>
        </p:blipFill>
        <p:spPr>
          <a:xfrm>
            <a:off x="640080" y="1783080"/>
            <a:ext cx="5486400" cy="3401568"/>
          </a:xfrm>
          <a:prstGeom prst="rect">
            <a:avLst/>
          </a:prstGeom>
          <a:ln w="19050">
            <a:solidFill>
              <a:srgbClr val="24564C"/>
            </a:solidFill>
          </a:ln>
        </p:spPr>
      </p:pic>
      <p:pic>
        <p:nvPicPr>
          <p:cNvPr id="6" name="Picture 5" descr="meds.png"/>
          <p:cNvPicPr>
            <a:picLocks noChangeAspect="1"/>
          </p:cNvPicPr>
          <p:nvPr/>
        </p:nvPicPr>
        <p:blipFill>
          <a:blip r:embed="rId4"/>
          <a:srcRect b="5680"/>
          <a:stretch>
            <a:fillRect/>
          </a:stretch>
        </p:blipFill>
        <p:spPr>
          <a:xfrm>
            <a:off x="6355080" y="1783080"/>
            <a:ext cx="5212080" cy="3413912"/>
          </a:xfrm>
          <a:prstGeom prst="rect">
            <a:avLst/>
          </a:prstGeom>
          <a:ln w="19050">
            <a:solidFill>
              <a:srgbClr val="24564C"/>
            </a:solidFill>
          </a:ln>
        </p:spPr>
      </p:pic>
      <p:sp>
        <p:nvSpPr>
          <p:cNvPr id="7" name="TextBox 6"/>
          <p:cNvSpPr txBox="1"/>
          <p:nvPr/>
        </p:nvSpPr>
        <p:spPr>
          <a:xfrm>
            <a:off x="640080" y="5486400"/>
            <a:ext cx="10881360" cy="822960"/>
          </a:xfrm>
          <a:prstGeom prst="rect">
            <a:avLst/>
          </a:prstGeom>
          <a:noFill/>
        </p:spPr>
        <p:txBody>
          <a:bodyPr wrap="square" anchor="t" lIns="0" rIns="0" tIns="0" bIns="0">
            <a:spAutoFit/>
          </a:bodyPr>
          <a:lstStyle/>
          <a:p>
            <a:pPr algn="l">
              <a:lnSpc>
                <a:spcPct val="115000"/>
              </a:lnSpc>
            </a:pPr>
            <a:r>
              <a:rPr sz="1400" b="1">
                <a:solidFill>
                  <a:srgbClr val="FFFFFF"/>
                </a:solidFill>
                <a:latin typeface="Segoe UI"/>
              </a:rPr>
              <a:t>Trends </a:t>
            </a:r>
            <a:r>
              <a:rPr sz="1400" b="0">
                <a:solidFill>
                  <a:srgbClr val="9FD9C8"/>
                </a:solidFill>
                <a:latin typeface="Segoe UI"/>
              </a:rPr>
              <a:t>against shaded reference ranges, e.g. fasting glucose 168 → 142 mg/dL.  </a:t>
            </a:r>
            <a:r>
              <a:rPr sz="1400" b="1">
                <a:solidFill>
                  <a:srgbClr val="FFFFFF"/>
                </a:solidFill>
                <a:latin typeface="Segoe UI"/>
              </a:rPr>
              <a:t>Medicines </a:t>
            </a:r>
            <a:r>
              <a:rPr sz="1400" b="0">
                <a:solidFill>
                  <a:srgbClr val="9FD9C8"/>
                </a:solidFill>
                <a:latin typeface="Segoe UI"/>
              </a:rPr>
              <a:t>with a daily schedule; a newer prescription of the same drug supersedes the older 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IN YOUR LANGUAGE</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Explained in English, हिन्दी, తెలుగు, தமிழ், ಕನ್ನಡ</a:t>
            </a:r>
          </a:p>
        </p:txBody>
      </p:sp>
      <p:pic>
        <p:nvPicPr>
          <p:cNvPr id="5" name="Picture 4" descr="docview_hi.png"/>
          <p:cNvPicPr>
            <a:picLocks noChangeAspect="1"/>
          </p:cNvPicPr>
          <p:nvPr/>
        </p:nvPicPr>
        <p:blipFill>
          <a:blip r:embed="rId3"/>
          <a:srcRect b="49600"/>
          <a:stretch>
            <a:fillRect/>
          </a:stretch>
        </p:blipFill>
        <p:spPr>
          <a:xfrm>
            <a:off x="640080" y="1783080"/>
            <a:ext cx="5394960" cy="3776471"/>
          </a:xfrm>
          <a:prstGeom prst="rect">
            <a:avLst/>
          </a:prstGeom>
          <a:ln w="19050">
            <a:solidFill>
              <a:srgbClr val="24564C"/>
            </a:solidFill>
          </a:ln>
        </p:spPr>
      </p:pic>
      <p:pic>
        <p:nvPicPr>
          <p:cNvPr id="6" name="Picture 5" descr="chat_te.png"/>
          <p:cNvPicPr>
            <a:picLocks noChangeAspect="1"/>
          </p:cNvPicPr>
          <p:nvPr/>
        </p:nvPicPr>
        <p:blipFill>
          <a:blip r:embed="rId4"/>
          <a:srcRect/>
          <a:stretch>
            <a:fillRect/>
          </a:stretch>
        </p:blipFill>
        <p:spPr>
          <a:xfrm>
            <a:off x="6263640" y="1783080"/>
            <a:ext cx="5303520" cy="3765499"/>
          </a:xfrm>
          <a:prstGeom prst="rect">
            <a:avLst/>
          </a:prstGeom>
          <a:ln w="19050">
            <a:solidFill>
              <a:srgbClr val="24564C"/>
            </a:solidFill>
          </a:ln>
        </p:spPr>
      </p:pic>
      <p:sp>
        <p:nvSpPr>
          <p:cNvPr id="7" name="TextBox 6"/>
          <p:cNvSpPr txBox="1"/>
          <p:nvPr/>
        </p:nvSpPr>
        <p:spPr>
          <a:xfrm>
            <a:off x="640080" y="5715000"/>
            <a:ext cx="10881360" cy="731520"/>
          </a:xfrm>
          <a:prstGeom prst="rect">
            <a:avLst/>
          </a:prstGeom>
          <a:noFill/>
        </p:spPr>
        <p:txBody>
          <a:bodyPr wrap="square" anchor="t" lIns="0" rIns="0" tIns="0" bIns="0">
            <a:spAutoFit/>
          </a:bodyPr>
          <a:lstStyle/>
          <a:p>
            <a:pPr algn="l">
              <a:lnSpc>
                <a:spcPct val="115000"/>
              </a:lnSpc>
            </a:pPr>
            <a:r>
              <a:rPr sz="1400" b="1">
                <a:solidFill>
                  <a:srgbClr val="FFFFFF"/>
                </a:solidFill>
                <a:latin typeface="Segoe UI"/>
              </a:rPr>
              <a:t>The AI writes only the prose. </a:t>
            </a:r>
            <a:r>
              <a:rPr sz="1400" b="0">
                <a:solidFill>
                  <a:srgbClr val="9FD9C8"/>
                </a:solidFill>
                <a:latin typeface="Segoe UI"/>
              </a:rPr>
              <a:t>Numbers, flags and schedules are attached from the database; a safety filter blocks dosing advice and diagnoses, and chat answers come only from the patient's records, with citations and read-aloud.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ABDM-READY</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FHIR R4 records, linked to an ABHA</a:t>
            </a:r>
          </a:p>
        </p:txBody>
      </p:sp>
      <p:sp>
        <p:nvSpPr>
          <p:cNvPr id="5" name="TextBox 4"/>
          <p:cNvSpPr txBox="1"/>
          <p:nvPr/>
        </p:nvSpPr>
        <p:spPr>
          <a:xfrm>
            <a:off x="640080" y="1828800"/>
            <a:ext cx="475488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1">
                <a:solidFill>
                  <a:srgbClr val="FFFFFF"/>
                </a:solidFill>
                <a:latin typeface="Segoe UI"/>
              </a:rPr>
              <a:t>NRCeS profiles: </a:t>
            </a:r>
            <a:r>
              <a:rPr sz="1400" b="0">
                <a:solidFill>
                  <a:srgbClr val="9FD9C8"/>
                </a:solidFill>
                <a:latin typeface="Segoe UI"/>
              </a:rPr>
              <a:t>PrescriptionRecord, DiagnosticReportRecord and DischargeSummaryRecord bundles</a:t>
            </a:r>
          </a:p>
          <a:p>
            <a:pPr algn="l">
              <a:lnSpc>
                <a:spcPct val="120000"/>
              </a:lnSpc>
              <a:spcAft>
                <a:spcPts val="1008"/>
              </a:spcAft>
            </a:pPr>
            <a:r>
              <a:rPr sz="1400" b="1">
                <a:solidFill>
                  <a:srgbClr val="45C2A5"/>
                </a:solidFill>
                <a:latin typeface="Segoe UI"/>
              </a:rPr>
              <a:t>•  </a:t>
            </a:r>
            <a:r>
              <a:rPr sz="1400" b="1">
                <a:solidFill>
                  <a:srgbClr val="FFFFFF"/>
                </a:solidFill>
                <a:latin typeface="Segoe UI"/>
              </a:rPr>
              <a:t>Standard codes: </a:t>
            </a:r>
            <a:r>
              <a:rPr sz="1400" b="0">
                <a:solidFill>
                  <a:srgbClr val="9FD9C8"/>
                </a:solidFill>
                <a:latin typeface="Segoe UI"/>
              </a:rPr>
              <a:t>LOINC, UCUM, ICD-10, SNOMED composition types</a:t>
            </a:r>
          </a:p>
          <a:p>
            <a:pPr algn="l">
              <a:lnSpc>
                <a:spcPct val="120000"/>
              </a:lnSpc>
              <a:spcAft>
                <a:spcPts val="1008"/>
              </a:spcAft>
            </a:pPr>
            <a:r>
              <a:rPr sz="1400" b="1">
                <a:solidFill>
                  <a:srgbClr val="45C2A5"/>
                </a:solidFill>
                <a:latin typeface="Segoe UI"/>
              </a:rPr>
              <a:t>•  </a:t>
            </a:r>
            <a:r>
              <a:rPr sz="1400" b="1">
                <a:solidFill>
                  <a:srgbClr val="FFFFFF"/>
                </a:solidFill>
                <a:latin typeface="Segoe UI"/>
              </a:rPr>
              <a:t>Mock ABDM flow: </a:t>
            </a:r>
            <a:r>
              <a:rPr sz="1400" b="0">
                <a:solidFill>
                  <a:srgbClr val="9FD9C8"/>
                </a:solidFill>
                <a:latin typeface="Segoe UI"/>
              </a:rPr>
              <a:t>ABHA link with OTP, consent artefact, pull from a Health Information Provider</a:t>
            </a:r>
          </a:p>
          <a:p>
            <a:pPr algn="l">
              <a:lnSpc>
                <a:spcPct val="120000"/>
              </a:lnSpc>
              <a:spcAft>
                <a:spcPts val="1008"/>
              </a:spcAft>
            </a:pPr>
            <a:r>
              <a:rPr sz="1400" b="1">
                <a:solidFill>
                  <a:srgbClr val="45C2A5"/>
                </a:solidFill>
                <a:latin typeface="Segoe UI"/>
              </a:rPr>
              <a:t>•  </a:t>
            </a:r>
            <a:r>
              <a:rPr sz="1400" b="1">
                <a:solidFill>
                  <a:srgbClr val="FFFFFF"/>
                </a:solidFill>
                <a:latin typeface="Segoe UI"/>
              </a:rPr>
              <a:t>Same checks: </a:t>
            </a:r>
            <a:r>
              <a:rPr sz="1400" b="0">
                <a:solidFill>
                  <a:srgbClr val="9FD9C8"/>
                </a:solidFill>
                <a:latin typeface="Segoe UI"/>
              </a:rPr>
              <a:t>imported records go through the same validators</a:t>
            </a:r>
          </a:p>
          <a:p>
            <a:pPr algn="l">
              <a:lnSpc>
                <a:spcPct val="120000"/>
              </a:lnSpc>
              <a:spcAft>
                <a:spcPts val="1008"/>
              </a:spcAft>
            </a:pPr>
            <a:r>
              <a:rPr sz="1400" b="1">
                <a:solidFill>
                  <a:srgbClr val="45C2A5"/>
                </a:solidFill>
                <a:latin typeface="Segoe UI"/>
              </a:rPr>
              <a:t>•  </a:t>
            </a:r>
            <a:r>
              <a:rPr sz="1400" b="1">
                <a:solidFill>
                  <a:srgbClr val="FFFFFF"/>
                </a:solidFill>
                <a:latin typeface="Segoe UI"/>
              </a:rPr>
              <a:t>Readable bundle view: </a:t>
            </a:r>
            <a:r>
              <a:rPr sz="1400" b="0">
                <a:solidFill>
                  <a:srgbClr val="9FD9C8"/>
                </a:solidFill>
                <a:latin typeface="Segoe UI"/>
              </a:rPr>
              <a:t>with the raw JSON one click away, and one-file export</a:t>
            </a:r>
          </a:p>
        </p:txBody>
      </p:sp>
      <p:pic>
        <p:nvPicPr>
          <p:cNvPr id="6" name="Picture 5" descr="abha.png"/>
          <p:cNvPicPr>
            <a:picLocks noChangeAspect="1"/>
          </p:cNvPicPr>
          <p:nvPr/>
        </p:nvPicPr>
        <p:blipFill>
          <a:blip r:embed="rId3"/>
          <a:srcRect b="640"/>
          <a:stretch>
            <a:fillRect/>
          </a:stretch>
        </p:blipFill>
        <p:spPr>
          <a:xfrm>
            <a:off x="5669280" y="1783080"/>
            <a:ext cx="5897880" cy="4069537"/>
          </a:xfrm>
          <a:prstGeom prst="rect">
            <a:avLst/>
          </a:prstGeom>
          <a:ln w="19050">
            <a:solidFill>
              <a:srgbClr val="24564C"/>
            </a:solidFill>
          </a:ln>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PHONES AND FAMILY ACCOUNTS</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Built for the phone in your pocket</a:t>
            </a:r>
          </a:p>
        </p:txBody>
      </p:sp>
      <p:sp>
        <p:nvSpPr>
          <p:cNvPr id="5" name="TextBox 4"/>
          <p:cNvSpPr txBox="1"/>
          <p:nvPr/>
        </p:nvSpPr>
        <p:spPr>
          <a:xfrm>
            <a:off x="640080" y="1828800"/>
            <a:ext cx="6766560" cy="4114800"/>
          </a:xfrm>
          <a:prstGeom prst="rect">
            <a:avLst/>
          </a:prstGeom>
          <a:noFill/>
        </p:spPr>
        <p:txBody>
          <a:bodyPr wrap="square" anchor="t" lIns="0" rIns="0" tIns="0" bIns="0">
            <a:spAutoFit/>
          </a:bodyPr>
          <a:lstStyle/>
          <a:p>
            <a:pPr algn="l">
              <a:lnSpc>
                <a:spcPct val="120000"/>
              </a:lnSpc>
              <a:spcAft>
                <a:spcPts val="1080"/>
              </a:spcAft>
            </a:pPr>
            <a:r>
              <a:rPr sz="1500" b="1">
                <a:solidFill>
                  <a:srgbClr val="45C2A5"/>
                </a:solidFill>
                <a:latin typeface="Segoe UI"/>
              </a:rPr>
              <a:t>•  </a:t>
            </a:r>
            <a:r>
              <a:rPr sz="1500" b="1">
                <a:solidFill>
                  <a:srgbClr val="FFFFFF"/>
                </a:solidFill>
                <a:latin typeface="Segoe UI"/>
              </a:rPr>
              <a:t>Sign in with email or mobile number: </a:t>
            </a:r>
            <a:r>
              <a:rPr sz="1500" b="0">
                <a:solidFill>
                  <a:srgbClr val="9FD9C8"/>
                </a:solidFill>
                <a:latin typeface="Segoe UI"/>
              </a:rPr>
              <a:t>and a password; sign-up is verified by an email code</a:t>
            </a:r>
          </a:p>
          <a:p>
            <a:pPr algn="l">
              <a:lnSpc>
                <a:spcPct val="120000"/>
              </a:lnSpc>
              <a:spcAft>
                <a:spcPts val="1080"/>
              </a:spcAft>
            </a:pPr>
            <a:r>
              <a:rPr sz="1500" b="1">
                <a:solidFill>
                  <a:srgbClr val="45C2A5"/>
                </a:solidFill>
                <a:latin typeface="Segoe UI"/>
              </a:rPr>
              <a:t>•  </a:t>
            </a:r>
            <a:r>
              <a:rPr sz="1500" b="1">
                <a:solidFill>
                  <a:srgbClr val="FFFFFF"/>
                </a:solidFill>
                <a:latin typeface="Segoe UI"/>
              </a:rPr>
              <a:t>One account, whole family: </a:t>
            </a:r>
            <a:r>
              <a:rPr sz="1500" b="0">
                <a:solidFill>
                  <a:srgbClr val="9FD9C8"/>
                </a:solidFill>
                <a:latin typeface="Segoe UI"/>
              </a:rPr>
              <a:t>each member has their own records; accounts are isolated</a:t>
            </a:r>
          </a:p>
          <a:p>
            <a:pPr algn="l">
              <a:lnSpc>
                <a:spcPct val="120000"/>
              </a:lnSpc>
              <a:spcAft>
                <a:spcPts val="1080"/>
              </a:spcAft>
            </a:pPr>
            <a:r>
              <a:rPr sz="1500" b="1">
                <a:solidFill>
                  <a:srgbClr val="45C2A5"/>
                </a:solidFill>
                <a:latin typeface="Segoe UI"/>
              </a:rPr>
              <a:t>•  </a:t>
            </a:r>
            <a:r>
              <a:rPr sz="1500" b="1">
                <a:solidFill>
                  <a:srgbClr val="FFFFFF"/>
                </a:solidFill>
                <a:latin typeface="Segoe UI"/>
              </a:rPr>
              <a:t>Phone layout: </a:t>
            </a:r>
            <a:r>
              <a:rPr sz="1500" b="0">
                <a:solidFill>
                  <a:srgbClr val="9FD9C8"/>
                </a:solidFill>
                <a:latin typeface="Segoe UI"/>
              </a:rPr>
              <a:t>bottom tab bar, account menu in the corner, screens from 360 px wide</a:t>
            </a:r>
          </a:p>
          <a:p>
            <a:pPr algn="l">
              <a:lnSpc>
                <a:spcPct val="120000"/>
              </a:lnSpc>
              <a:spcAft>
                <a:spcPts val="1080"/>
              </a:spcAft>
            </a:pPr>
            <a:r>
              <a:rPr sz="1500" b="1">
                <a:solidFill>
                  <a:srgbClr val="45C2A5"/>
                </a:solidFill>
                <a:latin typeface="Segoe UI"/>
              </a:rPr>
              <a:t>•  </a:t>
            </a:r>
            <a:r>
              <a:rPr sz="1500" b="1">
                <a:solidFill>
                  <a:srgbClr val="FFFFFF"/>
                </a:solidFill>
                <a:latin typeface="Segoe UI"/>
              </a:rPr>
              <a:t>Installs like an app: </a:t>
            </a:r>
            <a:r>
              <a:rPr sz="1500" b="0">
                <a:solidFill>
                  <a:srgbClr val="9FD9C8"/>
                </a:solidFill>
                <a:latin typeface="Segoe UI"/>
              </a:rPr>
              <a:t>web app manifest and icons</a:t>
            </a:r>
          </a:p>
          <a:p>
            <a:pPr algn="l">
              <a:lnSpc>
                <a:spcPct val="120000"/>
              </a:lnSpc>
              <a:spcAft>
                <a:spcPts val="1080"/>
              </a:spcAft>
            </a:pPr>
            <a:r>
              <a:rPr sz="1500" b="1">
                <a:solidFill>
                  <a:srgbClr val="45C2A5"/>
                </a:solidFill>
                <a:latin typeface="Segoe UI"/>
              </a:rPr>
              <a:t>•  </a:t>
            </a:r>
            <a:r>
              <a:rPr sz="1500" b="1">
                <a:solidFill>
                  <a:srgbClr val="FFFFFF"/>
                </a:solidFill>
                <a:latin typeface="Segoe UI"/>
              </a:rPr>
              <a:t>Security alerts and reminders: </a:t>
            </a:r>
            <a:r>
              <a:rPr sz="1500" b="0">
                <a:solidFill>
                  <a:srgbClr val="9FD9C8"/>
                </a:solidFill>
                <a:latin typeface="Segoe UI"/>
              </a:rPr>
              <a:t>new sign-ins, password changes, medicine courses ending, weekly summary</a:t>
            </a:r>
          </a:p>
        </p:txBody>
      </p:sp>
      <p:pic>
        <p:nvPicPr>
          <p:cNvPr id="6" name="Picture 5" descr="mobile.png"/>
          <p:cNvPicPr>
            <a:picLocks noChangeAspect="1"/>
          </p:cNvPicPr>
          <p:nvPr/>
        </p:nvPicPr>
        <p:blipFill>
          <a:blip r:embed="rId3"/>
          <a:stretch>
            <a:fillRect/>
          </a:stretch>
        </p:blipFill>
        <p:spPr>
          <a:xfrm>
            <a:off x="8549640" y="1463040"/>
            <a:ext cx="2366173" cy="5120640"/>
          </a:xfrm>
          <a:prstGeom prst="rect">
            <a:avLst/>
          </a:prstGeom>
          <a:ln>
            <a:solidFill>
              <a:srgbClr val="24564C"/>
            </a:solidFill>
          </a:ln>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SAFE BY CONSTRUCTION</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Guardrails in code, not in the prompt</a:t>
            </a:r>
          </a:p>
        </p:txBody>
      </p:sp>
      <p:sp>
        <p:nvSpPr>
          <p:cNvPr id="5" name="Rounded Rectangle 4"/>
          <p:cNvSpPr/>
          <p:nvPr/>
        </p:nvSpPr>
        <p:spPr>
          <a:xfrm>
            <a:off x="640080" y="1828800"/>
            <a:ext cx="53492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841247" y="20299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1</a:t>
            </a:r>
          </a:p>
        </p:txBody>
      </p:sp>
      <p:sp>
        <p:nvSpPr>
          <p:cNvPr id="7" name="TextBox 6"/>
          <p:cNvSpPr txBox="1"/>
          <p:nvPr/>
        </p:nvSpPr>
        <p:spPr>
          <a:xfrm>
            <a:off x="1508760" y="2011680"/>
            <a:ext cx="429767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Code decides what is abnormal</a:t>
            </a:r>
          </a:p>
        </p:txBody>
      </p:sp>
      <p:sp>
        <p:nvSpPr>
          <p:cNvPr id="8" name="TextBox 7"/>
          <p:cNvSpPr txBox="1"/>
          <p:nvPr/>
        </p:nvSpPr>
        <p:spPr>
          <a:xfrm>
            <a:off x="1508760" y="2359152"/>
            <a:ext cx="4297679" cy="7772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High, Low and Critical flags, unit conversions and schedules are computed deterministically.</a:t>
            </a:r>
          </a:p>
        </p:txBody>
      </p:sp>
      <p:sp>
        <p:nvSpPr>
          <p:cNvPr id="9" name="Rounded Rectangle 8"/>
          <p:cNvSpPr/>
          <p:nvPr/>
        </p:nvSpPr>
        <p:spPr>
          <a:xfrm>
            <a:off x="6172200" y="1828800"/>
            <a:ext cx="53492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373368" y="20299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2</a:t>
            </a:r>
          </a:p>
        </p:txBody>
      </p:sp>
      <p:sp>
        <p:nvSpPr>
          <p:cNvPr id="11" name="TextBox 10"/>
          <p:cNvSpPr txBox="1"/>
          <p:nvPr/>
        </p:nvSpPr>
        <p:spPr>
          <a:xfrm>
            <a:off x="7040880" y="2011680"/>
            <a:ext cx="429767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Grounded explanations</a:t>
            </a:r>
          </a:p>
        </p:txBody>
      </p:sp>
      <p:sp>
        <p:nvSpPr>
          <p:cNvPr id="12" name="TextBox 11"/>
          <p:cNvSpPr txBox="1"/>
          <p:nvPr/>
        </p:nvSpPr>
        <p:spPr>
          <a:xfrm>
            <a:off x="7040880" y="2359152"/>
            <a:ext cx="4297679" cy="7772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Summaries use only numbers that are in the record; translations must preserve every number.</a:t>
            </a:r>
          </a:p>
        </p:txBody>
      </p:sp>
      <p:sp>
        <p:nvSpPr>
          <p:cNvPr id="13" name="Rounded Rectangle 12"/>
          <p:cNvSpPr/>
          <p:nvPr/>
        </p:nvSpPr>
        <p:spPr>
          <a:xfrm>
            <a:off x="640080" y="3429000"/>
            <a:ext cx="53492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41247" y="36301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3</a:t>
            </a:r>
          </a:p>
        </p:txBody>
      </p:sp>
      <p:sp>
        <p:nvSpPr>
          <p:cNvPr id="15" name="TextBox 14"/>
          <p:cNvSpPr txBox="1"/>
          <p:nvPr/>
        </p:nvSpPr>
        <p:spPr>
          <a:xfrm>
            <a:off x="1508760" y="3611880"/>
            <a:ext cx="429767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No dosing advice, no diagnosis</a:t>
            </a:r>
          </a:p>
        </p:txBody>
      </p:sp>
      <p:sp>
        <p:nvSpPr>
          <p:cNvPr id="16" name="TextBox 15"/>
          <p:cNvSpPr txBox="1"/>
          <p:nvPr/>
        </p:nvSpPr>
        <p:spPr>
          <a:xfrm>
            <a:off x="1508760" y="3959352"/>
            <a:ext cx="4297679" cy="7772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A safety filter blocks them; critical values and emergency symptoms point to a doctor or 112.</a:t>
            </a:r>
          </a:p>
        </p:txBody>
      </p:sp>
      <p:sp>
        <p:nvSpPr>
          <p:cNvPr id="17" name="Rounded Rectangle 16"/>
          <p:cNvSpPr/>
          <p:nvPr/>
        </p:nvSpPr>
        <p:spPr>
          <a:xfrm>
            <a:off x="6172200" y="3429000"/>
            <a:ext cx="53492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73368" y="3630168"/>
            <a:ext cx="457200" cy="457200"/>
          </a:xfrm>
          <a:prstGeom prst="roundRect">
            <a:avLst>
              <a:gd name="adj" fmla="val 30000"/>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800" b="1">
                <a:solidFill>
                  <a:srgbClr val="FFFFFF"/>
                </a:solidFill>
                <a:latin typeface="Segoe UI"/>
              </a:rPr>
              <a:t>4</a:t>
            </a:r>
          </a:p>
        </p:txBody>
      </p:sp>
      <p:sp>
        <p:nvSpPr>
          <p:cNvPr id="19" name="TextBox 18"/>
          <p:cNvSpPr txBox="1"/>
          <p:nvPr/>
        </p:nvSpPr>
        <p:spPr>
          <a:xfrm>
            <a:off x="7040880" y="3611880"/>
            <a:ext cx="429767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Privacy</a:t>
            </a:r>
          </a:p>
        </p:txBody>
      </p:sp>
      <p:sp>
        <p:nvSpPr>
          <p:cNvPr id="20" name="TextBox 19"/>
          <p:cNvSpPr txBox="1"/>
          <p:nvPr/>
        </p:nvSpPr>
        <p:spPr>
          <a:xfrm>
            <a:off x="7040880" y="3959352"/>
            <a:ext cx="4297679" cy="77724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Models see clinical facts, gender and age only: no names, phone numbers or ABHA IDs.</a:t>
            </a:r>
          </a:p>
        </p:txBody>
      </p:sp>
      <p:sp>
        <p:nvSpPr>
          <p:cNvPr id="21" name="TextBox 20"/>
          <p:cNvSpPr txBox="1"/>
          <p:nvPr/>
        </p:nvSpPr>
        <p:spPr>
          <a:xfrm>
            <a:off x="640080" y="5257800"/>
            <a:ext cx="10881360" cy="822960"/>
          </a:xfrm>
          <a:prstGeom prst="rect">
            <a:avLst/>
          </a:prstGeom>
          <a:noFill/>
        </p:spPr>
        <p:txBody>
          <a:bodyPr wrap="square" anchor="t" lIns="0" rIns="0" tIns="0" bIns="0">
            <a:spAutoFit/>
          </a:bodyPr>
          <a:lstStyle/>
          <a:p>
            <a:pPr algn="l">
              <a:lnSpc>
                <a:spcPct val="115000"/>
              </a:lnSpc>
            </a:pPr>
            <a:r>
              <a:rPr sz="1500" b="1">
                <a:solidFill>
                  <a:srgbClr val="FFFFFF"/>
                </a:solidFill>
                <a:latin typeface="Segoe UI"/>
              </a:rPr>
              <a:t>Nothing is saved without a person confirming it. </a:t>
            </a:r>
            <a:r>
              <a:rPr sz="1500" b="0">
                <a:solidFill>
                  <a:srgbClr val="9FD9C8"/>
                </a:solidFill>
                <a:latin typeface="Segoe UI"/>
              </a:rPr>
              <a:t>Low-confidence, disputed and verifier-added items are highlighted on the review screen, and imported FHIR records go through the same validators.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MEASURED, NOT CLAIMED</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Accuracy on a re-scorable evaluation suite</a:t>
            </a:r>
          </a:p>
        </p:txBody>
      </p:sp>
      <p:sp>
        <p:nvSpPr>
          <p:cNvPr id="5" name="TextBox 4"/>
          <p:cNvSpPr txBox="1"/>
          <p:nvPr/>
        </p:nvSpPr>
        <p:spPr>
          <a:xfrm>
            <a:off x="640080" y="1783080"/>
            <a:ext cx="5029200" cy="1737360"/>
          </a:xfrm>
          <a:prstGeom prst="rect">
            <a:avLst/>
          </a:prstGeom>
          <a:noFill/>
        </p:spPr>
        <p:txBody>
          <a:bodyPr wrap="square" anchor="t" lIns="0" rIns="0" tIns="0" bIns="0">
            <a:spAutoFit/>
          </a:bodyPr>
          <a:lstStyle/>
          <a:p>
            <a:pPr algn="l">
              <a:lnSpc>
                <a:spcPct val="115000"/>
              </a:lnSpc>
            </a:pPr>
            <a:r>
              <a:rPr sz="11000" b="1">
                <a:solidFill>
                  <a:srgbClr val="7BDBC1"/>
                </a:solidFill>
                <a:latin typeface="Segoe UI"/>
              </a:rPr>
              <a:t>100%</a:t>
            </a:r>
          </a:p>
        </p:txBody>
      </p:sp>
      <p:sp>
        <p:nvSpPr>
          <p:cNvPr id="6" name="TextBox 5"/>
          <p:cNvSpPr txBox="1"/>
          <p:nvPr/>
        </p:nvSpPr>
        <p:spPr>
          <a:xfrm>
            <a:off x="640080" y="3611880"/>
            <a:ext cx="4937760" cy="8229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of 477 checked fields correct with verification, on 10 synthetic documents with 96 items</a:t>
            </a:r>
          </a:p>
        </p:txBody>
      </p:sp>
      <p:sp>
        <p:nvSpPr>
          <p:cNvPr id="7" name="Rounded Rectangle 6"/>
          <p:cNvSpPr/>
          <p:nvPr/>
        </p:nvSpPr>
        <p:spPr>
          <a:xfrm>
            <a:off x="6035040" y="1828800"/>
            <a:ext cx="26060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263640" y="2011680"/>
            <a:ext cx="2286000" cy="640080"/>
          </a:xfrm>
          <a:prstGeom prst="rect">
            <a:avLst/>
          </a:prstGeom>
          <a:noFill/>
        </p:spPr>
        <p:txBody>
          <a:bodyPr wrap="square" anchor="t" lIns="0" rIns="0" tIns="0" bIns="0">
            <a:spAutoFit/>
          </a:bodyPr>
          <a:lstStyle/>
          <a:p>
            <a:pPr algn="l">
              <a:lnSpc>
                <a:spcPct val="115000"/>
              </a:lnSpc>
            </a:pPr>
            <a:r>
              <a:rPr sz="3200" b="1">
                <a:solidFill>
                  <a:srgbClr val="FFFFFF"/>
                </a:solidFill>
                <a:latin typeface="Segoe UI"/>
              </a:rPr>
              <a:t>99.8%</a:t>
            </a:r>
          </a:p>
        </p:txBody>
      </p:sp>
      <p:sp>
        <p:nvSpPr>
          <p:cNvPr id="9" name="TextBox 8"/>
          <p:cNvSpPr txBox="1"/>
          <p:nvPr/>
        </p:nvSpPr>
        <p:spPr>
          <a:xfrm>
            <a:off x="6263640" y="2697480"/>
            <a:ext cx="2286000" cy="45720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single pass, no verifier</a:t>
            </a:r>
          </a:p>
        </p:txBody>
      </p:sp>
      <p:sp>
        <p:nvSpPr>
          <p:cNvPr id="10" name="Rounded Rectangle 9"/>
          <p:cNvSpPr/>
          <p:nvPr/>
        </p:nvSpPr>
        <p:spPr>
          <a:xfrm>
            <a:off x="8823959" y="1828800"/>
            <a:ext cx="26060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052559" y="2011680"/>
            <a:ext cx="2286000" cy="640080"/>
          </a:xfrm>
          <a:prstGeom prst="rect">
            <a:avLst/>
          </a:prstGeom>
          <a:noFill/>
        </p:spPr>
        <p:txBody>
          <a:bodyPr wrap="square" anchor="t" lIns="0" rIns="0" tIns="0" bIns="0">
            <a:spAutoFit/>
          </a:bodyPr>
          <a:lstStyle/>
          <a:p>
            <a:pPr algn="l">
              <a:lnSpc>
                <a:spcPct val="115000"/>
              </a:lnSpc>
            </a:pPr>
            <a:r>
              <a:rPr sz="3200" b="1">
                <a:solidFill>
                  <a:srgbClr val="FFFFFF"/>
                </a:solidFill>
                <a:latin typeface="Segoe UI"/>
              </a:rPr>
              <a:t>100%</a:t>
            </a:r>
          </a:p>
        </p:txBody>
      </p:sp>
      <p:sp>
        <p:nvSpPr>
          <p:cNvPr id="12" name="TextBox 11"/>
          <p:cNvSpPr txBox="1"/>
          <p:nvPr/>
        </p:nvSpPr>
        <p:spPr>
          <a:xfrm>
            <a:off x="9052559" y="2697480"/>
            <a:ext cx="2286000" cy="45720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medicines F1</a:t>
            </a:r>
          </a:p>
        </p:txBody>
      </p:sp>
      <p:sp>
        <p:nvSpPr>
          <p:cNvPr id="13" name="Rounded Rectangle 12"/>
          <p:cNvSpPr/>
          <p:nvPr/>
        </p:nvSpPr>
        <p:spPr>
          <a:xfrm>
            <a:off x="6035040" y="3429000"/>
            <a:ext cx="26060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263640" y="3611880"/>
            <a:ext cx="2286000" cy="640080"/>
          </a:xfrm>
          <a:prstGeom prst="rect">
            <a:avLst/>
          </a:prstGeom>
          <a:noFill/>
        </p:spPr>
        <p:txBody>
          <a:bodyPr wrap="square" anchor="t" lIns="0" rIns="0" tIns="0" bIns="0">
            <a:spAutoFit/>
          </a:bodyPr>
          <a:lstStyle/>
          <a:p>
            <a:pPr algn="l">
              <a:lnSpc>
                <a:spcPct val="115000"/>
              </a:lnSpc>
            </a:pPr>
            <a:r>
              <a:rPr sz="3200" b="1">
                <a:solidFill>
                  <a:srgbClr val="FFFFFF"/>
                </a:solidFill>
                <a:latin typeface="Segoe UI"/>
              </a:rPr>
              <a:t>100%</a:t>
            </a:r>
          </a:p>
        </p:txBody>
      </p:sp>
      <p:sp>
        <p:nvSpPr>
          <p:cNvPr id="15" name="TextBox 14"/>
          <p:cNvSpPr txBox="1"/>
          <p:nvPr/>
        </p:nvSpPr>
        <p:spPr>
          <a:xfrm>
            <a:off x="6263640" y="4297680"/>
            <a:ext cx="2286000" cy="45720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lab and vital results F1</a:t>
            </a:r>
          </a:p>
        </p:txBody>
      </p:sp>
      <p:sp>
        <p:nvSpPr>
          <p:cNvPr id="16" name="Rounded Rectangle 15"/>
          <p:cNvSpPr/>
          <p:nvPr/>
        </p:nvSpPr>
        <p:spPr>
          <a:xfrm>
            <a:off x="8823959" y="3429000"/>
            <a:ext cx="2606040" cy="137160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052559" y="3611880"/>
            <a:ext cx="2286000" cy="640080"/>
          </a:xfrm>
          <a:prstGeom prst="rect">
            <a:avLst/>
          </a:prstGeom>
          <a:noFill/>
        </p:spPr>
        <p:txBody>
          <a:bodyPr wrap="square" anchor="t" lIns="0" rIns="0" tIns="0" bIns="0">
            <a:spAutoFit/>
          </a:bodyPr>
          <a:lstStyle/>
          <a:p>
            <a:pPr algn="l">
              <a:lnSpc>
                <a:spcPct val="115000"/>
              </a:lnSpc>
            </a:pPr>
            <a:r>
              <a:rPr sz="3200" b="1">
                <a:solidFill>
                  <a:srgbClr val="FFFFFF"/>
                </a:solidFill>
                <a:latin typeface="Segoe UI"/>
              </a:rPr>
              <a:t>4</a:t>
            </a:r>
          </a:p>
        </p:txBody>
      </p:sp>
      <p:sp>
        <p:nvSpPr>
          <p:cNvPr id="18" name="TextBox 17"/>
          <p:cNvSpPr txBox="1"/>
          <p:nvPr/>
        </p:nvSpPr>
        <p:spPr>
          <a:xfrm>
            <a:off x="9052559" y="4297680"/>
            <a:ext cx="2286000" cy="45720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Indian scripts, plus handwriting</a:t>
            </a:r>
          </a:p>
        </p:txBody>
      </p:sp>
      <p:sp>
        <p:nvSpPr>
          <p:cNvPr id="19" name="Rounded Rectangle 18"/>
          <p:cNvSpPr/>
          <p:nvPr/>
        </p:nvSpPr>
        <p:spPr>
          <a:xfrm>
            <a:off x="640080" y="5257800"/>
            <a:ext cx="904158"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Printed</a:t>
            </a:r>
          </a:p>
        </p:txBody>
      </p:sp>
      <p:sp>
        <p:nvSpPr>
          <p:cNvPr id="20" name="Rounded Rectangle 19"/>
          <p:cNvSpPr/>
          <p:nvPr/>
        </p:nvSpPr>
        <p:spPr>
          <a:xfrm>
            <a:off x="1653966" y="5257800"/>
            <a:ext cx="1264066"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Handwritten</a:t>
            </a:r>
          </a:p>
        </p:txBody>
      </p:sp>
      <p:sp>
        <p:nvSpPr>
          <p:cNvPr id="21" name="Rounded Rectangle 20"/>
          <p:cNvSpPr/>
          <p:nvPr/>
        </p:nvSpPr>
        <p:spPr>
          <a:xfrm>
            <a:off x="3027761" y="5257800"/>
            <a:ext cx="1264066"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Phone photo</a:t>
            </a:r>
          </a:p>
        </p:txBody>
      </p:sp>
      <p:sp>
        <p:nvSpPr>
          <p:cNvPr id="22" name="Rounded Rectangle 21"/>
          <p:cNvSpPr/>
          <p:nvPr/>
        </p:nvSpPr>
        <p:spPr>
          <a:xfrm>
            <a:off x="4401555" y="5257800"/>
            <a:ext cx="1533997"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Multi-page PDF</a:t>
            </a:r>
          </a:p>
        </p:txBody>
      </p:sp>
      <p:sp>
        <p:nvSpPr>
          <p:cNvPr id="23" name="Rounded Rectangle 22"/>
          <p:cNvSpPr/>
          <p:nvPr/>
        </p:nvSpPr>
        <p:spPr>
          <a:xfrm>
            <a:off x="6045281" y="5257800"/>
            <a:ext cx="814181"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हिन्दी</a:t>
            </a:r>
          </a:p>
        </p:txBody>
      </p:sp>
      <p:sp>
        <p:nvSpPr>
          <p:cNvPr id="24" name="Rounded Rectangle 23"/>
          <p:cNvSpPr/>
          <p:nvPr/>
        </p:nvSpPr>
        <p:spPr>
          <a:xfrm>
            <a:off x="6969191" y="5257800"/>
            <a:ext cx="814181"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తెలుగు</a:t>
            </a:r>
          </a:p>
        </p:txBody>
      </p:sp>
      <p:sp>
        <p:nvSpPr>
          <p:cNvPr id="25" name="Rounded Rectangle 24"/>
          <p:cNvSpPr/>
          <p:nvPr/>
        </p:nvSpPr>
        <p:spPr>
          <a:xfrm>
            <a:off x="7893100" y="5257800"/>
            <a:ext cx="724204"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தமிழ்</a:t>
            </a:r>
          </a:p>
        </p:txBody>
      </p:sp>
      <p:sp>
        <p:nvSpPr>
          <p:cNvPr id="26" name="Rounded Rectangle 25"/>
          <p:cNvSpPr/>
          <p:nvPr/>
        </p:nvSpPr>
        <p:spPr>
          <a:xfrm>
            <a:off x="8727033" y="5257800"/>
            <a:ext cx="724204"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200" b="1">
                <a:solidFill>
                  <a:srgbClr val="D7F6EC"/>
                </a:solidFill>
                <a:latin typeface="Segoe UI"/>
              </a:rPr>
              <a:t>ಕನ್ನಡ</a:t>
            </a:r>
          </a:p>
        </p:txBody>
      </p:sp>
      <p:sp>
        <p:nvSpPr>
          <p:cNvPr id="27" name="TextBox 26"/>
          <p:cNvSpPr txBox="1"/>
          <p:nvPr/>
        </p:nvSpPr>
        <p:spPr>
          <a:xfrm>
            <a:off x="640080" y="5897880"/>
            <a:ext cx="10881360" cy="548640"/>
          </a:xfrm>
          <a:prstGeom prst="rect">
            <a:avLst/>
          </a:prstGeom>
          <a:noFill/>
        </p:spPr>
        <p:txBody>
          <a:bodyPr wrap="square" anchor="t" lIns="0" rIns="0" tIns="0" bIns="0">
            <a:spAutoFit/>
          </a:bodyPr>
          <a:lstStyle/>
          <a:p>
            <a:pPr algn="l">
              <a:lnSpc>
                <a:spcPct val="115000"/>
              </a:lnSpc>
            </a:pPr>
            <a:r>
              <a:rPr sz="1200" b="0">
                <a:solidFill>
                  <a:srgbClr val="9FD9C8"/>
                </a:solidFill>
                <a:latin typeface="Segoe UI"/>
              </a:rPr>
              <a:t>The samples are synthetic, so real handwriting will be harder; that is why every document is reviewed. Re-run with eval/run_eval.py, or re-score saved outputs without any AI calls.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ARCHITECTURE</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Production on free tiers only</a:t>
            </a:r>
          </a:p>
        </p:txBody>
      </p:sp>
      <p:sp>
        <p:nvSpPr>
          <p:cNvPr id="5" name="Rounded Rectangle 4"/>
          <p:cNvSpPr/>
          <p:nvPr/>
        </p:nvSpPr>
        <p:spPr>
          <a:xfrm>
            <a:off x="640080" y="1828800"/>
            <a:ext cx="3520440" cy="3566160"/>
          </a:xfrm>
          <a:prstGeom prst="roundRect">
            <a:avLst>
              <a:gd name="adj" fmla="val 8000"/>
            </a:avLst>
          </a:prstGeom>
          <a:solidFill>
            <a:srgbClr val="102B26"/>
          </a:solidFill>
          <a:ln w="25400">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057400"/>
            <a:ext cx="3017520" cy="457200"/>
          </a:xfrm>
          <a:prstGeom prst="rect">
            <a:avLst/>
          </a:prstGeom>
          <a:noFill/>
        </p:spPr>
        <p:txBody>
          <a:bodyPr wrap="square" anchor="t" lIns="0" rIns="0" tIns="0" bIns="0">
            <a:spAutoFit/>
          </a:bodyPr>
          <a:lstStyle/>
          <a:p>
            <a:pPr algn="l">
              <a:lnSpc>
                <a:spcPct val="115000"/>
              </a:lnSpc>
            </a:pPr>
            <a:r>
              <a:rPr sz="2000" b="1">
                <a:solidFill>
                  <a:srgbClr val="FFFFFF"/>
                </a:solidFill>
                <a:latin typeface="Segoe UI"/>
              </a:rPr>
              <a:t>Backend</a:t>
            </a:r>
          </a:p>
        </p:txBody>
      </p:sp>
      <p:sp>
        <p:nvSpPr>
          <p:cNvPr id="7" name="TextBox 6"/>
          <p:cNvSpPr txBox="1"/>
          <p:nvPr/>
        </p:nvSpPr>
        <p:spPr>
          <a:xfrm>
            <a:off x="914400" y="2651760"/>
            <a:ext cx="306324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0">
                <a:solidFill>
                  <a:srgbClr val="D7F6EC"/>
                </a:solidFill>
                <a:latin typeface="Segoe UI"/>
              </a:rPr>
              <a:t>FastAPI and SQLModel</a:t>
            </a:r>
          </a:p>
          <a:p>
            <a:pPr algn="l">
              <a:lnSpc>
                <a:spcPct val="120000"/>
              </a:lnSpc>
              <a:spcAft>
                <a:spcPts val="1008"/>
              </a:spcAft>
            </a:pPr>
            <a:r>
              <a:rPr sz="1400" b="1">
                <a:solidFill>
                  <a:srgbClr val="45C2A5"/>
                </a:solidFill>
                <a:latin typeface="Segoe UI"/>
              </a:rPr>
              <a:t>•  </a:t>
            </a:r>
            <a:r>
              <a:rPr sz="1400" b="0">
                <a:solidFill>
                  <a:srgbClr val="D7F6EC"/>
                </a:solidFill>
                <a:latin typeface="Segoe UI"/>
              </a:rPr>
              <a:t>Background pipeline workers</a:t>
            </a:r>
          </a:p>
          <a:p>
            <a:pPr algn="l">
              <a:lnSpc>
                <a:spcPct val="120000"/>
              </a:lnSpc>
              <a:spcAft>
                <a:spcPts val="1008"/>
              </a:spcAft>
            </a:pPr>
            <a:r>
              <a:rPr sz="1400" b="1">
                <a:solidFill>
                  <a:srgbClr val="45C2A5"/>
                </a:solidFill>
                <a:latin typeface="Segoe UI"/>
              </a:rPr>
              <a:t>•  </a:t>
            </a:r>
            <a:r>
              <a:rPr sz="1400" b="0">
                <a:solidFill>
                  <a:srgbClr val="D7F6EC"/>
                </a:solidFill>
                <a:latin typeface="Segoe UI"/>
              </a:rPr>
              <a:t>Gemini model chains with fallback (OpenAI optional)</a:t>
            </a:r>
          </a:p>
          <a:p>
            <a:pPr algn="l">
              <a:lnSpc>
                <a:spcPct val="120000"/>
              </a:lnSpc>
              <a:spcAft>
                <a:spcPts val="1008"/>
              </a:spcAft>
            </a:pPr>
            <a:r>
              <a:rPr sz="1400" b="1">
                <a:solidFill>
                  <a:srgbClr val="45C2A5"/>
                </a:solidFill>
                <a:latin typeface="Segoe UI"/>
              </a:rPr>
              <a:t>•  </a:t>
            </a:r>
            <a:r>
              <a:rPr sz="1400" b="0">
                <a:solidFill>
                  <a:srgbClr val="D7F6EC"/>
                </a:solidFill>
                <a:latin typeface="Segoe UI"/>
              </a:rPr>
              <a:t>FHIR R4 with fhir.resources</a:t>
            </a:r>
          </a:p>
        </p:txBody>
      </p:sp>
      <p:sp>
        <p:nvSpPr>
          <p:cNvPr id="8" name="Rounded Rectangle 7"/>
          <p:cNvSpPr/>
          <p:nvPr/>
        </p:nvSpPr>
        <p:spPr>
          <a:xfrm>
            <a:off x="4343400" y="1828800"/>
            <a:ext cx="3520440" cy="3566160"/>
          </a:xfrm>
          <a:prstGeom prst="roundRect">
            <a:avLst>
              <a:gd name="adj" fmla="val 8000"/>
            </a:avLst>
          </a:prstGeom>
          <a:solidFill>
            <a:srgbClr val="102B26"/>
          </a:solidFill>
          <a:ln w="25400">
            <a:solidFill>
              <a:srgbClr val="38BDF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17720" y="2057400"/>
            <a:ext cx="3017520" cy="457200"/>
          </a:xfrm>
          <a:prstGeom prst="rect">
            <a:avLst/>
          </a:prstGeom>
          <a:noFill/>
        </p:spPr>
        <p:txBody>
          <a:bodyPr wrap="square" anchor="t" lIns="0" rIns="0" tIns="0" bIns="0">
            <a:spAutoFit/>
          </a:bodyPr>
          <a:lstStyle/>
          <a:p>
            <a:pPr algn="l">
              <a:lnSpc>
                <a:spcPct val="115000"/>
              </a:lnSpc>
            </a:pPr>
            <a:r>
              <a:rPr sz="2000" b="1">
                <a:solidFill>
                  <a:srgbClr val="FFFFFF"/>
                </a:solidFill>
                <a:latin typeface="Segoe UI"/>
              </a:rPr>
              <a:t>Frontend</a:t>
            </a:r>
          </a:p>
        </p:txBody>
      </p:sp>
      <p:sp>
        <p:nvSpPr>
          <p:cNvPr id="10" name="TextBox 9"/>
          <p:cNvSpPr txBox="1"/>
          <p:nvPr/>
        </p:nvSpPr>
        <p:spPr>
          <a:xfrm>
            <a:off x="4617720" y="2651760"/>
            <a:ext cx="306324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0">
                <a:solidFill>
                  <a:srgbClr val="D7F6EC"/>
                </a:solidFill>
                <a:latin typeface="Segoe UI"/>
              </a:rPr>
              <a:t>React 19, Vite, TypeScript</a:t>
            </a:r>
          </a:p>
          <a:p>
            <a:pPr algn="l">
              <a:lnSpc>
                <a:spcPct val="120000"/>
              </a:lnSpc>
              <a:spcAft>
                <a:spcPts val="1008"/>
              </a:spcAft>
            </a:pPr>
            <a:r>
              <a:rPr sz="1400" b="1">
                <a:solidFill>
                  <a:srgbClr val="45C2A5"/>
                </a:solidFill>
                <a:latin typeface="Segoe UI"/>
              </a:rPr>
              <a:t>•  </a:t>
            </a:r>
            <a:r>
              <a:rPr sz="1400" b="0">
                <a:solidFill>
                  <a:srgbClr val="D7F6EC"/>
                </a:solidFill>
                <a:latin typeface="Segoe UI"/>
              </a:rPr>
              <a:t>Tailwind CSS 4, TanStack Query</a:t>
            </a:r>
          </a:p>
          <a:p>
            <a:pPr algn="l">
              <a:lnSpc>
                <a:spcPct val="120000"/>
              </a:lnSpc>
              <a:spcAft>
                <a:spcPts val="1008"/>
              </a:spcAft>
            </a:pPr>
            <a:r>
              <a:rPr sz="1400" b="1">
                <a:solidFill>
                  <a:srgbClr val="45C2A5"/>
                </a:solidFill>
                <a:latin typeface="Segoe UI"/>
              </a:rPr>
              <a:t>•  </a:t>
            </a:r>
            <a:r>
              <a:rPr sz="1400" b="1">
                <a:solidFill>
                  <a:srgbClr val="FFFFFF"/>
                </a:solidFill>
                <a:latin typeface="Segoe UI"/>
              </a:rPr>
              <a:t>i18next: </a:t>
            </a:r>
            <a:r>
              <a:rPr sz="1400" b="0">
                <a:solidFill>
                  <a:srgbClr val="9FD9C8"/>
                </a:solidFill>
                <a:latin typeface="Segoe UI"/>
              </a:rPr>
              <a:t>5 languages</a:t>
            </a:r>
          </a:p>
          <a:p>
            <a:pPr algn="l">
              <a:lnSpc>
                <a:spcPct val="120000"/>
              </a:lnSpc>
              <a:spcAft>
                <a:spcPts val="1008"/>
              </a:spcAft>
            </a:pPr>
            <a:r>
              <a:rPr sz="1400" b="1">
                <a:solidFill>
                  <a:srgbClr val="45C2A5"/>
                </a:solidFill>
                <a:latin typeface="Segoe UI"/>
              </a:rPr>
              <a:t>•  </a:t>
            </a:r>
            <a:r>
              <a:rPr sz="1400" b="0">
                <a:solidFill>
                  <a:srgbClr val="D7F6EC"/>
                </a:solidFill>
                <a:latin typeface="Segoe UI"/>
              </a:rPr>
              <a:t>Installable web app</a:t>
            </a:r>
          </a:p>
        </p:txBody>
      </p:sp>
      <p:sp>
        <p:nvSpPr>
          <p:cNvPr id="11" name="Rounded Rectangle 10"/>
          <p:cNvSpPr/>
          <p:nvPr/>
        </p:nvSpPr>
        <p:spPr>
          <a:xfrm>
            <a:off x="8046719" y="1828800"/>
            <a:ext cx="3520440" cy="3566160"/>
          </a:xfrm>
          <a:prstGeom prst="roundRect">
            <a:avLst>
              <a:gd name="adj" fmla="val 8000"/>
            </a:avLst>
          </a:prstGeom>
          <a:solidFill>
            <a:srgbClr val="102B26"/>
          </a:solidFill>
          <a:ln w="25400">
            <a:solidFill>
              <a:srgbClr val="A78BF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21040" y="2057400"/>
            <a:ext cx="3017520" cy="457200"/>
          </a:xfrm>
          <a:prstGeom prst="rect">
            <a:avLst/>
          </a:prstGeom>
          <a:noFill/>
        </p:spPr>
        <p:txBody>
          <a:bodyPr wrap="square" anchor="t" lIns="0" rIns="0" tIns="0" bIns="0">
            <a:spAutoFit/>
          </a:bodyPr>
          <a:lstStyle/>
          <a:p>
            <a:pPr algn="l">
              <a:lnSpc>
                <a:spcPct val="115000"/>
              </a:lnSpc>
            </a:pPr>
            <a:r>
              <a:rPr sz="2000" b="1">
                <a:solidFill>
                  <a:srgbClr val="FFFFFF"/>
                </a:solidFill>
                <a:latin typeface="Segoe UI"/>
              </a:rPr>
              <a:t>Free hosting</a:t>
            </a:r>
          </a:p>
        </p:txBody>
      </p:sp>
      <p:sp>
        <p:nvSpPr>
          <p:cNvPr id="13" name="TextBox 12"/>
          <p:cNvSpPr txBox="1"/>
          <p:nvPr/>
        </p:nvSpPr>
        <p:spPr>
          <a:xfrm>
            <a:off x="8321040" y="2651760"/>
            <a:ext cx="3063240" cy="4114800"/>
          </a:xfrm>
          <a:prstGeom prst="rect">
            <a:avLst/>
          </a:prstGeom>
          <a:noFill/>
        </p:spPr>
        <p:txBody>
          <a:bodyPr wrap="square" anchor="t" lIns="0" rIns="0" tIns="0" bIns="0">
            <a:spAutoFit/>
          </a:bodyPr>
          <a:lstStyle/>
          <a:p>
            <a:pPr algn="l">
              <a:lnSpc>
                <a:spcPct val="120000"/>
              </a:lnSpc>
              <a:spcAft>
                <a:spcPts val="1008"/>
              </a:spcAft>
            </a:pPr>
            <a:r>
              <a:rPr sz="1400" b="1">
                <a:solidFill>
                  <a:srgbClr val="45C2A5"/>
                </a:solidFill>
                <a:latin typeface="Segoe UI"/>
              </a:rPr>
              <a:t>•  </a:t>
            </a:r>
            <a:r>
              <a:rPr sz="1400" b="0">
                <a:solidFill>
                  <a:srgbClr val="D7F6EC"/>
                </a:solidFill>
                <a:latin typeface="Segoe UI"/>
              </a:rPr>
              <a:t>Render (Docker)</a:t>
            </a:r>
          </a:p>
          <a:p>
            <a:pPr algn="l">
              <a:lnSpc>
                <a:spcPct val="120000"/>
              </a:lnSpc>
              <a:spcAft>
                <a:spcPts val="1008"/>
              </a:spcAft>
            </a:pPr>
            <a:r>
              <a:rPr sz="1400" b="1">
                <a:solidFill>
                  <a:srgbClr val="45C2A5"/>
                </a:solidFill>
                <a:latin typeface="Segoe UI"/>
              </a:rPr>
              <a:t>•  </a:t>
            </a:r>
            <a:r>
              <a:rPr sz="1400" b="0">
                <a:solidFill>
                  <a:srgbClr val="D7F6EC"/>
                </a:solidFill>
                <a:latin typeface="Segoe UI"/>
              </a:rPr>
              <a:t>Private GitHub repo as the datastore</a:t>
            </a:r>
          </a:p>
          <a:p>
            <a:pPr algn="l">
              <a:lnSpc>
                <a:spcPct val="120000"/>
              </a:lnSpc>
              <a:spcAft>
                <a:spcPts val="1008"/>
              </a:spcAft>
            </a:pPr>
            <a:r>
              <a:rPr sz="1400" b="1">
                <a:solidFill>
                  <a:srgbClr val="45C2A5"/>
                </a:solidFill>
                <a:latin typeface="Segoe UI"/>
              </a:rPr>
              <a:t>•  </a:t>
            </a:r>
            <a:r>
              <a:rPr sz="1400" b="0">
                <a:solidFill>
                  <a:srgbClr val="D7F6EC"/>
                </a:solidFill>
                <a:latin typeface="Segoe UI"/>
              </a:rPr>
              <a:t>Gmail through Apps Script</a:t>
            </a:r>
          </a:p>
          <a:p>
            <a:pPr algn="l">
              <a:lnSpc>
                <a:spcPct val="120000"/>
              </a:lnSpc>
              <a:spcAft>
                <a:spcPts val="1008"/>
              </a:spcAft>
            </a:pPr>
            <a:r>
              <a:rPr sz="1400" b="1">
                <a:solidFill>
                  <a:srgbClr val="45C2A5"/>
                </a:solidFill>
                <a:latin typeface="Segoe UI"/>
              </a:rPr>
              <a:t>•  </a:t>
            </a:r>
            <a:r>
              <a:rPr sz="1400" b="1">
                <a:solidFill>
                  <a:srgbClr val="FFFFFF"/>
                </a:solidFill>
                <a:latin typeface="Segoe UI"/>
              </a:rPr>
              <a:t>GitHub Actions: </a:t>
            </a:r>
            <a:r>
              <a:rPr sz="1400" b="0">
                <a:solidFill>
                  <a:srgbClr val="9FD9C8"/>
                </a:solidFill>
                <a:latin typeface="Segoe UI"/>
              </a:rPr>
              <a:t>tests, gated deploys, daily job</a:t>
            </a:r>
          </a:p>
        </p:txBody>
      </p:sp>
      <p:sp>
        <p:nvSpPr>
          <p:cNvPr id="14" name="TextBox 13"/>
          <p:cNvSpPr txBox="1"/>
          <p:nvPr/>
        </p:nvSpPr>
        <p:spPr>
          <a:xfrm>
            <a:off x="640080" y="5715000"/>
            <a:ext cx="10881360" cy="548640"/>
          </a:xfrm>
          <a:prstGeom prst="rect">
            <a:avLst/>
          </a:prstGeom>
          <a:noFill/>
        </p:spPr>
        <p:txBody>
          <a:bodyPr wrap="square" anchor="t" lIns="0" rIns="0" tIns="0" bIns="0">
            <a:spAutoFit/>
          </a:bodyPr>
          <a:lstStyle/>
          <a:p>
            <a:pPr algn="l">
              <a:lnSpc>
                <a:spcPct val="115000"/>
              </a:lnSpc>
            </a:pPr>
            <a:r>
              <a:rPr sz="1400" b="0">
                <a:solidFill>
                  <a:srgbClr val="9FD9C8"/>
                </a:solidFill>
                <a:latin typeface="Segoe UI"/>
              </a:rPr>
              <a:t>96 backend tests, type check, lint and build run on every push; Render deploys only after they pass.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Rectangle 1"/>
          <p:cNvSpPr/>
          <p:nvPr/>
        </p:nvSpPr>
        <p:spPr>
          <a:xfrm>
            <a:off x="640080" y="566928"/>
            <a:ext cx="73152" cy="237744"/>
          </a:xfrm>
          <a:prstGeom prst="rect">
            <a:avLst/>
          </a:prstGeom>
          <a:solidFill>
            <a:srgbClr val="45C2A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502920"/>
            <a:ext cx="7315200" cy="365760"/>
          </a:xfrm>
          <a:prstGeom prst="rect">
            <a:avLst/>
          </a:prstGeom>
          <a:noFill/>
        </p:spPr>
        <p:txBody>
          <a:bodyPr wrap="square" anchor="t" lIns="0" rIns="0" tIns="0" bIns="0">
            <a:spAutoFit/>
          </a:bodyPr>
          <a:lstStyle/>
          <a:p>
            <a:pPr algn="l">
              <a:lnSpc>
                <a:spcPct val="115000"/>
              </a:lnSpc>
            </a:pPr>
            <a:r>
              <a:rPr sz="1300" b="1">
                <a:solidFill>
                  <a:srgbClr val="45C2A5"/>
                </a:solidFill>
                <a:latin typeface="Segoe UI"/>
              </a:rPr>
              <a:t>IMPACT AND NEXT STEPS</a:t>
            </a:r>
          </a:p>
        </p:txBody>
      </p:sp>
      <p:sp>
        <p:nvSpPr>
          <p:cNvPr id="4" name="TextBox 3"/>
          <p:cNvSpPr txBox="1"/>
          <p:nvPr/>
        </p:nvSpPr>
        <p:spPr>
          <a:xfrm>
            <a:off x="640080" y="886968"/>
            <a:ext cx="10881360" cy="822960"/>
          </a:xfrm>
          <a:prstGeom prst="rect">
            <a:avLst/>
          </a:prstGeom>
          <a:noFill/>
        </p:spPr>
        <p:txBody>
          <a:bodyPr wrap="square" anchor="t" lIns="0" rIns="0" tIns="0" bIns="0">
            <a:spAutoFit/>
          </a:bodyPr>
          <a:lstStyle/>
          <a:p>
            <a:pPr algn="l">
              <a:lnSpc>
                <a:spcPct val="115000"/>
              </a:lnSpc>
            </a:pPr>
            <a:r>
              <a:rPr sz="3400" b="1">
                <a:solidFill>
                  <a:srgbClr val="FFFFFF"/>
                </a:solidFill>
                <a:latin typeface="Segoe UI"/>
              </a:rPr>
              <a:t>From a paper folder to a record that travels</a:t>
            </a:r>
          </a:p>
        </p:txBody>
      </p:sp>
      <p:sp>
        <p:nvSpPr>
          <p:cNvPr id="5" name="Rounded Rectangle 4"/>
          <p:cNvSpPr/>
          <p:nvPr/>
        </p:nvSpPr>
        <p:spPr>
          <a:xfrm>
            <a:off x="640080" y="1828800"/>
            <a:ext cx="5349240" cy="283464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68680" y="2011680"/>
            <a:ext cx="493775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Who it helps</a:t>
            </a:r>
          </a:p>
        </p:txBody>
      </p:sp>
      <p:sp>
        <p:nvSpPr>
          <p:cNvPr id="7" name="TextBox 6"/>
          <p:cNvSpPr txBox="1"/>
          <p:nvPr/>
        </p:nvSpPr>
        <p:spPr>
          <a:xfrm>
            <a:off x="868680" y="2359152"/>
            <a:ext cx="4937759" cy="224028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Chronic patients (diabetes, blood pressure, thyroid) tracking results across labs and hospitals.
Caregivers managing a parent's medicines and schedules.
Doctors receiving a structured, ABHA-linked history instead of a paper folder.</a:t>
            </a:r>
          </a:p>
        </p:txBody>
      </p:sp>
      <p:sp>
        <p:nvSpPr>
          <p:cNvPr id="8" name="Rounded Rectangle 7"/>
          <p:cNvSpPr/>
          <p:nvPr/>
        </p:nvSpPr>
        <p:spPr>
          <a:xfrm>
            <a:off x="6172200" y="1828800"/>
            <a:ext cx="5349240" cy="2834640"/>
          </a:xfrm>
          <a:prstGeom prst="roundRect">
            <a:avLst>
              <a:gd name="adj" fmla="val 12000"/>
            </a:avLst>
          </a:prstGeom>
          <a:solidFill>
            <a:srgbClr val="102B26"/>
          </a:solidFill>
          <a:ln w="15875">
            <a:solidFill>
              <a:srgbClr val="2456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2011680"/>
            <a:ext cx="4937759" cy="365760"/>
          </a:xfrm>
          <a:prstGeom prst="rect">
            <a:avLst/>
          </a:prstGeom>
          <a:noFill/>
        </p:spPr>
        <p:txBody>
          <a:bodyPr wrap="square" anchor="t" lIns="0" rIns="0" tIns="0" bIns="0">
            <a:spAutoFit/>
          </a:bodyPr>
          <a:lstStyle/>
          <a:p>
            <a:pPr algn="l">
              <a:lnSpc>
                <a:spcPct val="115000"/>
              </a:lnSpc>
            </a:pPr>
            <a:r>
              <a:rPr sz="1700" b="1">
                <a:solidFill>
                  <a:srgbClr val="FFFFFF"/>
                </a:solidFill>
                <a:latin typeface="Segoe UI"/>
              </a:rPr>
              <a:t>Next steps</a:t>
            </a:r>
          </a:p>
        </p:txBody>
      </p:sp>
      <p:sp>
        <p:nvSpPr>
          <p:cNvPr id="10" name="TextBox 9"/>
          <p:cNvSpPr txBox="1"/>
          <p:nvPr/>
        </p:nvSpPr>
        <p:spPr>
          <a:xfrm>
            <a:off x="6400800" y="2359152"/>
            <a:ext cx="4937759" cy="224028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ABDM sandbox: HIU registration and Fidelius encryption.
Medicine interaction checks on top of the extracted schedule.
A larger evaluation set with real, consented documents, and calibrated confidence.
Voice summaries in regional languages.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gradFill rotWithShape="1">
          <a:gsLst>
            <a:gs pos="0">
              <a:srgbClr val="06110F"/>
            </a:gs>
            <a:gs pos="100000">
              <a:srgbClr val="0A2A25"/>
            </a:gs>
          </a:gsLst>
          <a:lin scaled="0" ang="13500000"/>
        </a:gradFill>
        <a:effectLst/>
      </p:bgPr>
    </p:bg>
    <p:spTree>
      <p:nvGrpSpPr>
        <p:cNvPr id="1" name=""/>
        <p:cNvGrpSpPr/>
        <p:nvPr/>
      </p:nvGrpSpPr>
      <p:grpSpPr/>
      <p:sp>
        <p:nvSpPr>
          <p:cNvPr id="2" name="TextBox 1"/>
          <p:cNvSpPr txBox="1"/>
          <p:nvPr/>
        </p:nvSpPr>
        <p:spPr>
          <a:xfrm>
            <a:off x="822960" y="1280160"/>
            <a:ext cx="10515600" cy="2926080"/>
          </a:xfrm>
          <a:prstGeom prst="rect">
            <a:avLst/>
          </a:prstGeom>
          <a:noFill/>
        </p:spPr>
        <p:txBody>
          <a:bodyPr wrap="square" anchor="t" lIns="0" rIns="0" tIns="0" bIns="0">
            <a:spAutoFit/>
          </a:bodyPr>
          <a:lstStyle/>
          <a:p>
            <a:pPr algn="l">
              <a:lnSpc>
                <a:spcPct val="105000"/>
              </a:lnSpc>
            </a:pPr>
            <a:r>
              <a:rPr sz="5000" b="1">
                <a:solidFill>
                  <a:srgbClr val="FFFFFF"/>
                </a:solidFill>
                <a:latin typeface="Segoe UI"/>
              </a:rPr>
              <a:t>AI reads and explains.</a:t>
            </a:r>
          </a:p>
          <a:p>
            <a:pPr algn="l">
              <a:lnSpc>
                <a:spcPct val="105000"/>
              </a:lnSpc>
            </a:pPr>
            <a:r>
              <a:rPr sz="5000" b="1">
                <a:solidFill>
                  <a:srgbClr val="FFFFFF"/>
                </a:solidFill>
                <a:latin typeface="Segoe UI"/>
              </a:rPr>
              <a:t>Code checks.</a:t>
            </a:r>
          </a:p>
          <a:p>
            <a:pPr algn="l">
              <a:lnSpc>
                <a:spcPct val="105000"/>
              </a:lnSpc>
            </a:pPr>
            <a:r>
              <a:rPr sz="5000" b="1">
                <a:solidFill>
                  <a:srgbClr val="7BDBC1"/>
                </a:solidFill>
                <a:latin typeface="Segoe UI"/>
              </a:rPr>
              <a:t>You confirm.</a:t>
            </a:r>
          </a:p>
        </p:txBody>
      </p:sp>
      <p:sp>
        <p:nvSpPr>
          <p:cNvPr id="3" name="TextBox 2"/>
          <p:cNvSpPr txBox="1"/>
          <p:nvPr/>
        </p:nvSpPr>
        <p:spPr>
          <a:xfrm>
            <a:off x="822960" y="4114800"/>
            <a:ext cx="10515600" cy="548640"/>
          </a:xfrm>
          <a:prstGeom prst="rect">
            <a:avLst/>
          </a:prstGeom>
          <a:noFill/>
        </p:spPr>
        <p:txBody>
          <a:bodyPr wrap="square" anchor="t" lIns="0" rIns="0" tIns="0" bIns="0">
            <a:spAutoFit/>
          </a:bodyPr>
          <a:lstStyle/>
          <a:p>
            <a:pPr algn="l">
              <a:lnSpc>
                <a:spcPct val="115000"/>
              </a:lnSpc>
            </a:pPr>
            <a:r>
              <a:rPr sz="2200" b="0">
                <a:solidFill>
                  <a:srgbClr val="9FD9C8"/>
                </a:solidFill>
                <a:latin typeface="Segoe UI"/>
              </a:rPr>
              <a:t>Your record, in your language, ready for ABDM.</a:t>
            </a:r>
          </a:p>
        </p:txBody>
      </p:sp>
      <p:sp>
        <p:nvSpPr>
          <p:cNvPr id="4" name="Rounded Rectangle 3"/>
          <p:cNvSpPr/>
          <p:nvPr/>
        </p:nvSpPr>
        <p:spPr>
          <a:xfrm>
            <a:off x="822960" y="4983480"/>
            <a:ext cx="3633459"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health-copilot-kl7g.onrender.com</a:t>
            </a:r>
          </a:p>
        </p:txBody>
      </p:sp>
      <p:sp>
        <p:nvSpPr>
          <p:cNvPr id="5" name="Rounded Rectangle 4"/>
          <p:cNvSpPr/>
          <p:nvPr/>
        </p:nvSpPr>
        <p:spPr>
          <a:xfrm>
            <a:off x="4566147" y="4983480"/>
            <a:ext cx="4893137" cy="329184"/>
          </a:xfrm>
          <a:prstGeom prst="roundRect">
            <a:avLst>
              <a:gd name="adj" fmla="val 50000"/>
            </a:avLst>
          </a:prstGeom>
          <a:solidFill>
            <a:srgbClr val="102B26"/>
          </a:solidFill>
          <a:ln w="15875">
            <a:solidFill>
              <a:srgbClr val="45C2A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400" b="1">
                <a:solidFill>
                  <a:srgbClr val="D7F6EC"/>
                </a:solidFill>
                <a:latin typeface="Segoe UI"/>
              </a:rPr>
              <a:t>github.com/prasanthselam-arch/health-copilot</a:t>
            </a:r>
          </a:p>
        </p:txBody>
      </p:sp>
      <p:sp>
        <p:nvSpPr>
          <p:cNvPr id="6" name="TextBox 5"/>
          <p:cNvSpPr txBox="1"/>
          <p:nvPr/>
        </p:nvSpPr>
        <p:spPr>
          <a:xfrm>
            <a:off x="822960" y="5760720"/>
            <a:ext cx="10515600" cy="365760"/>
          </a:xfrm>
          <a:prstGeom prst="rect">
            <a:avLst/>
          </a:prstGeom>
          <a:noFill/>
        </p:spPr>
        <p:txBody>
          <a:bodyPr wrap="square" anchor="t" lIns="0" rIns="0" tIns="0" bIns="0">
            <a:spAutoFit/>
          </a:bodyPr>
          <a:lstStyle/>
          <a:p>
            <a:pPr algn="l">
              <a:lnSpc>
                <a:spcPct val="115000"/>
              </a:lnSpc>
            </a:pPr>
            <a:r>
              <a:rPr sz="1300" b="0">
                <a:solidFill>
                  <a:srgbClr val="9FD9C8"/>
                </a:solidFill>
                <a:latin typeface="Segoe UI"/>
              </a:rPr>
              <a:t>Team hack_masters  ·  Apache License 2.0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